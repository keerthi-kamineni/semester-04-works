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Open Sauce Bold" charset="1" panose="00000800000000000000"/>
      <p:regular r:id="rId19"/>
    </p:embeddedFont>
    <p:embeddedFont>
      <p:font typeface="Open Sauce" charset="1" panose="000005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914372" y="1902122"/>
            <a:ext cx="1751694" cy="6482756"/>
            <a:chOff x="0" y="0"/>
            <a:chExt cx="461351" cy="17073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1351" cy="1707392"/>
            </a:xfrm>
            <a:custGeom>
              <a:avLst/>
              <a:gdLst/>
              <a:ahLst/>
              <a:cxnLst/>
              <a:rect r="r" b="b" t="t" l="l"/>
              <a:pathLst>
                <a:path h="1707392" w="461351">
                  <a:moveTo>
                    <a:pt x="154689" y="0"/>
                  </a:moveTo>
                  <a:lnTo>
                    <a:pt x="306663" y="0"/>
                  </a:lnTo>
                  <a:cubicBezTo>
                    <a:pt x="347689" y="0"/>
                    <a:pt x="387034" y="16298"/>
                    <a:pt x="416044" y="45307"/>
                  </a:cubicBezTo>
                  <a:cubicBezTo>
                    <a:pt x="445054" y="74317"/>
                    <a:pt x="461351" y="113663"/>
                    <a:pt x="461351" y="154689"/>
                  </a:cubicBezTo>
                  <a:lnTo>
                    <a:pt x="461351" y="1552704"/>
                  </a:lnTo>
                  <a:cubicBezTo>
                    <a:pt x="461351" y="1593730"/>
                    <a:pt x="445054" y="1633076"/>
                    <a:pt x="416044" y="1662085"/>
                  </a:cubicBezTo>
                  <a:cubicBezTo>
                    <a:pt x="387034" y="1691095"/>
                    <a:pt x="347689" y="1707392"/>
                    <a:pt x="306663" y="1707392"/>
                  </a:cubicBezTo>
                  <a:lnTo>
                    <a:pt x="154689" y="1707392"/>
                  </a:lnTo>
                  <a:cubicBezTo>
                    <a:pt x="113663" y="1707392"/>
                    <a:pt x="74317" y="1691095"/>
                    <a:pt x="45307" y="1662085"/>
                  </a:cubicBezTo>
                  <a:cubicBezTo>
                    <a:pt x="16298" y="1633076"/>
                    <a:pt x="0" y="1593730"/>
                    <a:pt x="0" y="1552704"/>
                  </a:cubicBezTo>
                  <a:lnTo>
                    <a:pt x="0" y="154689"/>
                  </a:lnTo>
                  <a:cubicBezTo>
                    <a:pt x="0" y="113663"/>
                    <a:pt x="16298" y="74317"/>
                    <a:pt x="45307" y="45307"/>
                  </a:cubicBezTo>
                  <a:cubicBezTo>
                    <a:pt x="74317" y="16298"/>
                    <a:pt x="113663" y="0"/>
                    <a:pt x="154689" y="0"/>
                  </a:cubicBez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1351" cy="17454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584419" y="1902122"/>
            <a:ext cx="1205800" cy="1205800"/>
            <a:chOff x="0" y="0"/>
            <a:chExt cx="317577" cy="31757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17577" cy="317577"/>
            </a:xfrm>
            <a:custGeom>
              <a:avLst/>
              <a:gdLst/>
              <a:ahLst/>
              <a:cxnLst/>
              <a:rect r="r" b="b" t="t" l="l"/>
              <a:pathLst>
                <a:path h="317577" w="317577">
                  <a:moveTo>
                    <a:pt x="158789" y="0"/>
                  </a:moveTo>
                  <a:lnTo>
                    <a:pt x="158789" y="0"/>
                  </a:lnTo>
                  <a:cubicBezTo>
                    <a:pt x="200902" y="0"/>
                    <a:pt x="241290" y="16729"/>
                    <a:pt x="271069" y="46508"/>
                  </a:cubicBezTo>
                  <a:cubicBezTo>
                    <a:pt x="300848" y="76287"/>
                    <a:pt x="317577" y="116675"/>
                    <a:pt x="317577" y="158789"/>
                  </a:cubicBezTo>
                  <a:lnTo>
                    <a:pt x="317577" y="158789"/>
                  </a:lnTo>
                  <a:cubicBezTo>
                    <a:pt x="317577" y="200902"/>
                    <a:pt x="300848" y="241290"/>
                    <a:pt x="271069" y="271069"/>
                  </a:cubicBezTo>
                  <a:cubicBezTo>
                    <a:pt x="241290" y="300848"/>
                    <a:pt x="200902" y="317577"/>
                    <a:pt x="158789" y="317577"/>
                  </a:cubicBezTo>
                  <a:lnTo>
                    <a:pt x="158789" y="317577"/>
                  </a:lnTo>
                  <a:cubicBezTo>
                    <a:pt x="116675" y="317577"/>
                    <a:pt x="76287" y="300848"/>
                    <a:pt x="46508" y="271069"/>
                  </a:cubicBezTo>
                  <a:cubicBezTo>
                    <a:pt x="16729" y="241290"/>
                    <a:pt x="0" y="200902"/>
                    <a:pt x="0" y="158789"/>
                  </a:cubicBezTo>
                  <a:lnTo>
                    <a:pt x="0" y="158789"/>
                  </a:lnTo>
                  <a:cubicBezTo>
                    <a:pt x="0" y="116675"/>
                    <a:pt x="16729" y="76287"/>
                    <a:pt x="46508" y="46508"/>
                  </a:cubicBezTo>
                  <a:cubicBezTo>
                    <a:pt x="76287" y="16729"/>
                    <a:pt x="116675" y="0"/>
                    <a:pt x="158789" y="0"/>
                  </a:cubicBezTo>
                  <a:close/>
                </a:path>
              </a:pathLst>
            </a:custGeom>
            <a:solidFill>
              <a:srgbClr val="21212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17577" cy="355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780501" y="1914745"/>
            <a:ext cx="12726999" cy="776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04"/>
              </a:lnSpc>
            </a:pPr>
            <a:r>
              <a:rPr lang="en-US" b="true" sz="18400" spc="-1324">
                <a:solidFill>
                  <a:srgbClr val="E9E9E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EEE207</a:t>
            </a:r>
          </a:p>
          <a:p>
            <a:pPr algn="ctr">
              <a:lnSpc>
                <a:spcPts val="14904"/>
              </a:lnSpc>
            </a:pPr>
            <a:r>
              <a:rPr lang="en-US" b="true" sz="18400" spc="-1324">
                <a:solidFill>
                  <a:srgbClr val="E9E9E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ANALOG CIRCUITS</a:t>
            </a:r>
          </a:p>
          <a:p>
            <a:pPr algn="ctr">
              <a:lnSpc>
                <a:spcPts val="14904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8783420" y="3007140"/>
            <a:ext cx="721160" cy="296850"/>
            <a:chOff x="0" y="0"/>
            <a:chExt cx="189935" cy="7818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9935" cy="78183"/>
            </a:xfrm>
            <a:custGeom>
              <a:avLst/>
              <a:gdLst/>
              <a:ahLst/>
              <a:cxnLst/>
              <a:rect r="r" b="b" t="t" l="l"/>
              <a:pathLst>
                <a:path h="78183" w="189935">
                  <a:moveTo>
                    <a:pt x="39091" y="0"/>
                  </a:moveTo>
                  <a:lnTo>
                    <a:pt x="150844" y="0"/>
                  </a:lnTo>
                  <a:cubicBezTo>
                    <a:pt x="172433" y="0"/>
                    <a:pt x="189935" y="17502"/>
                    <a:pt x="189935" y="39091"/>
                  </a:cubicBezTo>
                  <a:lnTo>
                    <a:pt x="189935" y="39091"/>
                  </a:lnTo>
                  <a:cubicBezTo>
                    <a:pt x="189935" y="49459"/>
                    <a:pt x="185817" y="59402"/>
                    <a:pt x="178485" y="66733"/>
                  </a:cubicBezTo>
                  <a:cubicBezTo>
                    <a:pt x="171154" y="74064"/>
                    <a:pt x="161211" y="78183"/>
                    <a:pt x="150844" y="78183"/>
                  </a:cubicBezTo>
                  <a:lnTo>
                    <a:pt x="39091" y="78183"/>
                  </a:lnTo>
                  <a:cubicBezTo>
                    <a:pt x="28724" y="78183"/>
                    <a:pt x="18781" y="74064"/>
                    <a:pt x="11450" y="66733"/>
                  </a:cubicBezTo>
                  <a:cubicBezTo>
                    <a:pt x="4119" y="59402"/>
                    <a:pt x="0" y="49459"/>
                    <a:pt x="0" y="39091"/>
                  </a:cubicBezTo>
                  <a:lnTo>
                    <a:pt x="0" y="39091"/>
                  </a:lnTo>
                  <a:cubicBezTo>
                    <a:pt x="0" y="28724"/>
                    <a:pt x="4119" y="18781"/>
                    <a:pt x="11450" y="11450"/>
                  </a:cubicBezTo>
                  <a:cubicBezTo>
                    <a:pt x="18781" y="4119"/>
                    <a:pt x="28724" y="0"/>
                    <a:pt x="39091" y="0"/>
                  </a:cubicBezTo>
                  <a:close/>
                </a:path>
              </a:pathLst>
            </a:custGeom>
            <a:solidFill>
              <a:srgbClr val="2449C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89935" cy="116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584758" y="3007140"/>
            <a:ext cx="296850" cy="29685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449C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678374" y="3420438"/>
            <a:ext cx="11453011" cy="266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25"/>
              </a:lnSpc>
            </a:pPr>
            <a:r>
              <a:rPr lang="en-US" b="true" sz="7661" spc="-551">
                <a:solidFill>
                  <a:srgbClr val="21212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LOW FREQUENCY TRANSFER FUNCTION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811194" y="7659202"/>
            <a:ext cx="2632777" cy="387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0"/>
              </a:lnSpc>
            </a:pPr>
            <a:r>
              <a:rPr lang="en-US" b="true" sz="2350" spc="-21">
                <a:solidFill>
                  <a:srgbClr val="21212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PRESENTED BY: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032421" y="8163930"/>
            <a:ext cx="6187936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 spc="-19">
                <a:solidFill>
                  <a:srgbClr val="21212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SHAIK SUHANA NAAZ - AP24110040006</a:t>
            </a:r>
          </a:p>
          <a:p>
            <a:pPr algn="l">
              <a:lnSpc>
                <a:spcPts val="3079"/>
              </a:lnSpc>
            </a:pPr>
            <a:r>
              <a:rPr lang="en-US" b="true" sz="2199" spc="-19">
                <a:solidFill>
                  <a:srgbClr val="21212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DHANA SRI KEERTHI - AP24110040009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-1209843" y="-602900"/>
            <a:ext cx="4554972" cy="1205800"/>
            <a:chOff x="0" y="0"/>
            <a:chExt cx="1199663" cy="31757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99663" cy="317577"/>
            </a:xfrm>
            <a:custGeom>
              <a:avLst/>
              <a:gdLst/>
              <a:ahLst/>
              <a:cxnLst/>
              <a:rect r="r" b="b" t="t" l="l"/>
              <a:pathLst>
                <a:path h="317577" w="1199663">
                  <a:moveTo>
                    <a:pt x="86683" y="0"/>
                  </a:moveTo>
                  <a:lnTo>
                    <a:pt x="1112981" y="0"/>
                  </a:lnTo>
                  <a:cubicBezTo>
                    <a:pt x="1160854" y="0"/>
                    <a:pt x="1199663" y="38809"/>
                    <a:pt x="1199663" y="86683"/>
                  </a:cubicBezTo>
                  <a:lnTo>
                    <a:pt x="1199663" y="230894"/>
                  </a:lnTo>
                  <a:cubicBezTo>
                    <a:pt x="1199663" y="253884"/>
                    <a:pt x="1190531" y="275932"/>
                    <a:pt x="1174275" y="292188"/>
                  </a:cubicBezTo>
                  <a:cubicBezTo>
                    <a:pt x="1158018" y="308444"/>
                    <a:pt x="1135970" y="317577"/>
                    <a:pt x="1112981" y="317577"/>
                  </a:cubicBezTo>
                  <a:lnTo>
                    <a:pt x="86683" y="317577"/>
                  </a:lnTo>
                  <a:cubicBezTo>
                    <a:pt x="38809" y="317577"/>
                    <a:pt x="0" y="278768"/>
                    <a:pt x="0" y="230894"/>
                  </a:cubicBezTo>
                  <a:lnTo>
                    <a:pt x="0" y="86683"/>
                  </a:lnTo>
                  <a:cubicBezTo>
                    <a:pt x="0" y="38809"/>
                    <a:pt x="38809" y="0"/>
                    <a:pt x="86683" y="0"/>
                  </a:cubicBezTo>
                  <a:close/>
                </a:path>
              </a:pathLst>
            </a:custGeom>
            <a:solidFill>
              <a:srgbClr val="2449CC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199663" cy="355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4942871" y="9684100"/>
            <a:ext cx="4554972" cy="1205800"/>
            <a:chOff x="0" y="0"/>
            <a:chExt cx="1199663" cy="31757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99663" cy="317577"/>
            </a:xfrm>
            <a:custGeom>
              <a:avLst/>
              <a:gdLst/>
              <a:ahLst/>
              <a:cxnLst/>
              <a:rect r="r" b="b" t="t" l="l"/>
              <a:pathLst>
                <a:path h="317577" w="1199663">
                  <a:moveTo>
                    <a:pt x="86683" y="0"/>
                  </a:moveTo>
                  <a:lnTo>
                    <a:pt x="1112981" y="0"/>
                  </a:lnTo>
                  <a:cubicBezTo>
                    <a:pt x="1160854" y="0"/>
                    <a:pt x="1199663" y="38809"/>
                    <a:pt x="1199663" y="86683"/>
                  </a:cubicBezTo>
                  <a:lnTo>
                    <a:pt x="1199663" y="230894"/>
                  </a:lnTo>
                  <a:cubicBezTo>
                    <a:pt x="1199663" y="253884"/>
                    <a:pt x="1190531" y="275932"/>
                    <a:pt x="1174275" y="292188"/>
                  </a:cubicBezTo>
                  <a:cubicBezTo>
                    <a:pt x="1158018" y="308444"/>
                    <a:pt x="1135970" y="317577"/>
                    <a:pt x="1112981" y="317577"/>
                  </a:cubicBezTo>
                  <a:lnTo>
                    <a:pt x="86683" y="317577"/>
                  </a:lnTo>
                  <a:cubicBezTo>
                    <a:pt x="38809" y="317577"/>
                    <a:pt x="0" y="278768"/>
                    <a:pt x="0" y="230894"/>
                  </a:cubicBezTo>
                  <a:lnTo>
                    <a:pt x="0" y="86683"/>
                  </a:lnTo>
                  <a:cubicBezTo>
                    <a:pt x="0" y="38809"/>
                    <a:pt x="38809" y="0"/>
                    <a:pt x="86683" y="0"/>
                  </a:cubicBezTo>
                  <a:close/>
                </a:path>
              </a:pathLst>
            </a:custGeom>
            <a:solidFill>
              <a:srgbClr val="2449CC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199663" cy="355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7719135" y="2332620"/>
            <a:ext cx="477709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 spc="-12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914372" y="1902122"/>
            <a:ext cx="1751694" cy="6482756"/>
            <a:chOff x="0" y="0"/>
            <a:chExt cx="461351" cy="17073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1351" cy="1707392"/>
            </a:xfrm>
            <a:custGeom>
              <a:avLst/>
              <a:gdLst/>
              <a:ahLst/>
              <a:cxnLst/>
              <a:rect r="r" b="b" t="t" l="l"/>
              <a:pathLst>
                <a:path h="1707392" w="461351">
                  <a:moveTo>
                    <a:pt x="154689" y="0"/>
                  </a:moveTo>
                  <a:lnTo>
                    <a:pt x="306663" y="0"/>
                  </a:lnTo>
                  <a:cubicBezTo>
                    <a:pt x="347689" y="0"/>
                    <a:pt x="387034" y="16298"/>
                    <a:pt x="416044" y="45307"/>
                  </a:cubicBezTo>
                  <a:cubicBezTo>
                    <a:pt x="445054" y="74317"/>
                    <a:pt x="461351" y="113663"/>
                    <a:pt x="461351" y="154689"/>
                  </a:cubicBezTo>
                  <a:lnTo>
                    <a:pt x="461351" y="1552704"/>
                  </a:lnTo>
                  <a:cubicBezTo>
                    <a:pt x="461351" y="1593730"/>
                    <a:pt x="445054" y="1633076"/>
                    <a:pt x="416044" y="1662085"/>
                  </a:cubicBezTo>
                  <a:cubicBezTo>
                    <a:pt x="387034" y="1691095"/>
                    <a:pt x="347689" y="1707392"/>
                    <a:pt x="306663" y="1707392"/>
                  </a:cubicBezTo>
                  <a:lnTo>
                    <a:pt x="154689" y="1707392"/>
                  </a:lnTo>
                  <a:cubicBezTo>
                    <a:pt x="113663" y="1707392"/>
                    <a:pt x="74317" y="1691095"/>
                    <a:pt x="45307" y="1662085"/>
                  </a:cubicBezTo>
                  <a:cubicBezTo>
                    <a:pt x="16298" y="1633076"/>
                    <a:pt x="0" y="1593730"/>
                    <a:pt x="0" y="1552704"/>
                  </a:cubicBezTo>
                  <a:lnTo>
                    <a:pt x="0" y="154689"/>
                  </a:lnTo>
                  <a:cubicBezTo>
                    <a:pt x="0" y="113663"/>
                    <a:pt x="16298" y="74317"/>
                    <a:pt x="45307" y="45307"/>
                  </a:cubicBezTo>
                  <a:cubicBezTo>
                    <a:pt x="74317" y="16298"/>
                    <a:pt x="113663" y="0"/>
                    <a:pt x="154689" y="0"/>
                  </a:cubicBez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1351" cy="17454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584419" y="1902122"/>
            <a:ext cx="1205800" cy="1205800"/>
            <a:chOff x="0" y="0"/>
            <a:chExt cx="317577" cy="31757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17577" cy="317577"/>
            </a:xfrm>
            <a:custGeom>
              <a:avLst/>
              <a:gdLst/>
              <a:ahLst/>
              <a:cxnLst/>
              <a:rect r="r" b="b" t="t" l="l"/>
              <a:pathLst>
                <a:path h="317577" w="317577">
                  <a:moveTo>
                    <a:pt x="158789" y="0"/>
                  </a:moveTo>
                  <a:lnTo>
                    <a:pt x="158789" y="0"/>
                  </a:lnTo>
                  <a:cubicBezTo>
                    <a:pt x="200902" y="0"/>
                    <a:pt x="241290" y="16729"/>
                    <a:pt x="271069" y="46508"/>
                  </a:cubicBezTo>
                  <a:cubicBezTo>
                    <a:pt x="300848" y="76287"/>
                    <a:pt x="317577" y="116675"/>
                    <a:pt x="317577" y="158789"/>
                  </a:cubicBezTo>
                  <a:lnTo>
                    <a:pt x="317577" y="158789"/>
                  </a:lnTo>
                  <a:cubicBezTo>
                    <a:pt x="317577" y="200902"/>
                    <a:pt x="300848" y="241290"/>
                    <a:pt x="271069" y="271069"/>
                  </a:cubicBezTo>
                  <a:cubicBezTo>
                    <a:pt x="241290" y="300848"/>
                    <a:pt x="200902" y="317577"/>
                    <a:pt x="158789" y="317577"/>
                  </a:cubicBezTo>
                  <a:lnTo>
                    <a:pt x="158789" y="317577"/>
                  </a:lnTo>
                  <a:cubicBezTo>
                    <a:pt x="116675" y="317577"/>
                    <a:pt x="76287" y="300848"/>
                    <a:pt x="46508" y="271069"/>
                  </a:cubicBezTo>
                  <a:cubicBezTo>
                    <a:pt x="16729" y="241290"/>
                    <a:pt x="0" y="200902"/>
                    <a:pt x="0" y="158789"/>
                  </a:cubicBezTo>
                  <a:lnTo>
                    <a:pt x="0" y="158789"/>
                  </a:lnTo>
                  <a:cubicBezTo>
                    <a:pt x="0" y="116675"/>
                    <a:pt x="16729" y="76287"/>
                    <a:pt x="46508" y="46508"/>
                  </a:cubicBezTo>
                  <a:cubicBezTo>
                    <a:pt x="76287" y="16729"/>
                    <a:pt x="116675" y="0"/>
                    <a:pt x="158789" y="0"/>
                  </a:cubicBezTo>
                  <a:close/>
                </a:path>
              </a:pathLst>
            </a:custGeom>
            <a:solidFill>
              <a:srgbClr val="21212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17577" cy="355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209843" y="-602900"/>
            <a:ext cx="4554972" cy="1205800"/>
            <a:chOff x="0" y="0"/>
            <a:chExt cx="1199663" cy="31757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99663" cy="317577"/>
            </a:xfrm>
            <a:custGeom>
              <a:avLst/>
              <a:gdLst/>
              <a:ahLst/>
              <a:cxnLst/>
              <a:rect r="r" b="b" t="t" l="l"/>
              <a:pathLst>
                <a:path h="317577" w="1199663">
                  <a:moveTo>
                    <a:pt x="86683" y="0"/>
                  </a:moveTo>
                  <a:lnTo>
                    <a:pt x="1112981" y="0"/>
                  </a:lnTo>
                  <a:cubicBezTo>
                    <a:pt x="1160854" y="0"/>
                    <a:pt x="1199663" y="38809"/>
                    <a:pt x="1199663" y="86683"/>
                  </a:cubicBezTo>
                  <a:lnTo>
                    <a:pt x="1199663" y="230894"/>
                  </a:lnTo>
                  <a:cubicBezTo>
                    <a:pt x="1199663" y="253884"/>
                    <a:pt x="1190531" y="275932"/>
                    <a:pt x="1174275" y="292188"/>
                  </a:cubicBezTo>
                  <a:cubicBezTo>
                    <a:pt x="1158018" y="308444"/>
                    <a:pt x="1135970" y="317577"/>
                    <a:pt x="1112981" y="317577"/>
                  </a:cubicBezTo>
                  <a:lnTo>
                    <a:pt x="86683" y="317577"/>
                  </a:lnTo>
                  <a:cubicBezTo>
                    <a:pt x="38809" y="317577"/>
                    <a:pt x="0" y="278768"/>
                    <a:pt x="0" y="230894"/>
                  </a:cubicBezTo>
                  <a:lnTo>
                    <a:pt x="0" y="86683"/>
                  </a:lnTo>
                  <a:cubicBezTo>
                    <a:pt x="0" y="38809"/>
                    <a:pt x="38809" y="0"/>
                    <a:pt x="86683" y="0"/>
                  </a:cubicBezTo>
                  <a:close/>
                </a:path>
              </a:pathLst>
            </a:custGeom>
            <a:solidFill>
              <a:srgbClr val="2449C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199663" cy="355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942871" y="9684100"/>
            <a:ext cx="4554972" cy="1205800"/>
            <a:chOff x="0" y="0"/>
            <a:chExt cx="1199663" cy="31757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99663" cy="317577"/>
            </a:xfrm>
            <a:custGeom>
              <a:avLst/>
              <a:gdLst/>
              <a:ahLst/>
              <a:cxnLst/>
              <a:rect r="r" b="b" t="t" l="l"/>
              <a:pathLst>
                <a:path h="317577" w="1199663">
                  <a:moveTo>
                    <a:pt x="86683" y="0"/>
                  </a:moveTo>
                  <a:lnTo>
                    <a:pt x="1112981" y="0"/>
                  </a:lnTo>
                  <a:cubicBezTo>
                    <a:pt x="1160854" y="0"/>
                    <a:pt x="1199663" y="38809"/>
                    <a:pt x="1199663" y="86683"/>
                  </a:cubicBezTo>
                  <a:lnTo>
                    <a:pt x="1199663" y="230894"/>
                  </a:lnTo>
                  <a:cubicBezTo>
                    <a:pt x="1199663" y="253884"/>
                    <a:pt x="1190531" y="275932"/>
                    <a:pt x="1174275" y="292188"/>
                  </a:cubicBezTo>
                  <a:cubicBezTo>
                    <a:pt x="1158018" y="308444"/>
                    <a:pt x="1135970" y="317577"/>
                    <a:pt x="1112981" y="317577"/>
                  </a:cubicBezTo>
                  <a:lnTo>
                    <a:pt x="86683" y="317577"/>
                  </a:lnTo>
                  <a:cubicBezTo>
                    <a:pt x="38809" y="317577"/>
                    <a:pt x="0" y="278768"/>
                    <a:pt x="0" y="230894"/>
                  </a:cubicBezTo>
                  <a:lnTo>
                    <a:pt x="0" y="86683"/>
                  </a:lnTo>
                  <a:cubicBezTo>
                    <a:pt x="0" y="38809"/>
                    <a:pt x="38809" y="0"/>
                    <a:pt x="86683" y="0"/>
                  </a:cubicBezTo>
                  <a:close/>
                </a:path>
              </a:pathLst>
            </a:custGeom>
            <a:solidFill>
              <a:srgbClr val="2449C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199663" cy="355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0551036" y="3107922"/>
            <a:ext cx="6593283" cy="5580512"/>
          </a:xfrm>
          <a:custGeom>
            <a:avLst/>
            <a:gdLst/>
            <a:ahLst/>
            <a:cxnLst/>
            <a:rect r="r" b="b" t="t" l="l"/>
            <a:pathLst>
              <a:path h="5580512" w="6593283">
                <a:moveTo>
                  <a:pt x="0" y="0"/>
                </a:moveTo>
                <a:lnTo>
                  <a:pt x="6593283" y="0"/>
                </a:lnTo>
                <a:lnTo>
                  <a:pt x="6593283" y="5580512"/>
                </a:lnTo>
                <a:lnTo>
                  <a:pt x="0" y="55805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378" r="0" b="-2625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795978" y="1287727"/>
            <a:ext cx="14696045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b="true" sz="7200" spc="-518">
                <a:solidFill>
                  <a:srgbClr val="21212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INTRODUCTION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719135" y="2332620"/>
            <a:ext cx="477709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 spc="-12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67643" y="3267022"/>
            <a:ext cx="8713340" cy="4079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2"/>
              </a:lnSpc>
            </a:pPr>
            <a:r>
              <a:rPr lang="en-US" sz="2587">
                <a:solidFill>
                  <a:srgbClr val="212121"/>
                </a:solidFill>
                <a:latin typeface="Open Sauce"/>
                <a:ea typeface="Open Sauce"/>
                <a:cs typeface="Open Sauce"/>
                <a:sym typeface="Open Sauce"/>
              </a:rPr>
              <a:t>The Low Frequency Transfer Function Method is used to analyze how an amplifier behaves at low frequencies.</a:t>
            </a:r>
          </a:p>
          <a:p>
            <a:pPr algn="l">
              <a:lnSpc>
                <a:spcPts val="3622"/>
              </a:lnSpc>
            </a:pPr>
          </a:p>
          <a:p>
            <a:pPr algn="l">
              <a:lnSpc>
                <a:spcPts val="3622"/>
              </a:lnSpc>
            </a:pPr>
            <a:r>
              <a:rPr lang="en-US" sz="2587">
                <a:solidFill>
                  <a:srgbClr val="212121"/>
                </a:solidFill>
                <a:latin typeface="Open Sauce"/>
                <a:ea typeface="Open Sauce"/>
                <a:cs typeface="Open Sauce"/>
                <a:sym typeface="Open Sauce"/>
              </a:rPr>
              <a:t>Amplifiers do not provide the same gain at all frequencies.</a:t>
            </a:r>
          </a:p>
          <a:p>
            <a:pPr algn="l">
              <a:lnSpc>
                <a:spcPts val="3622"/>
              </a:lnSpc>
            </a:pPr>
          </a:p>
          <a:p>
            <a:pPr algn="l">
              <a:lnSpc>
                <a:spcPts val="3622"/>
              </a:lnSpc>
            </a:pPr>
            <a:r>
              <a:rPr lang="en-US" sz="2587">
                <a:solidFill>
                  <a:srgbClr val="212121"/>
                </a:solidFill>
                <a:latin typeface="Open Sauce"/>
                <a:ea typeface="Open Sauce"/>
                <a:cs typeface="Open Sauce"/>
                <a:sym typeface="Open Sauce"/>
              </a:rPr>
              <a:t>Our main goal is to determine the transfer function:</a:t>
            </a:r>
          </a:p>
          <a:p>
            <a:pPr algn="l">
              <a:lnSpc>
                <a:spcPts val="3622"/>
              </a:lnSpc>
            </a:pPr>
            <a:r>
              <a:rPr lang="en-US" sz="2587">
                <a:solidFill>
                  <a:srgbClr val="212121"/>
                </a:solidFill>
                <a:latin typeface="Open Sauce"/>
                <a:ea typeface="Open Sauce"/>
                <a:cs typeface="Open Sauce"/>
                <a:sym typeface="Open Sauce"/>
              </a:rPr>
              <a:t>Av(s)=Vo(s)/Vi(s)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914372" y="1902122"/>
            <a:ext cx="1751694" cy="6482756"/>
            <a:chOff x="0" y="0"/>
            <a:chExt cx="461351" cy="17073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1351" cy="1707392"/>
            </a:xfrm>
            <a:custGeom>
              <a:avLst/>
              <a:gdLst/>
              <a:ahLst/>
              <a:cxnLst/>
              <a:rect r="r" b="b" t="t" l="l"/>
              <a:pathLst>
                <a:path h="1707392" w="461351">
                  <a:moveTo>
                    <a:pt x="154689" y="0"/>
                  </a:moveTo>
                  <a:lnTo>
                    <a:pt x="306663" y="0"/>
                  </a:lnTo>
                  <a:cubicBezTo>
                    <a:pt x="347689" y="0"/>
                    <a:pt x="387034" y="16298"/>
                    <a:pt x="416044" y="45307"/>
                  </a:cubicBezTo>
                  <a:cubicBezTo>
                    <a:pt x="445054" y="74317"/>
                    <a:pt x="461351" y="113663"/>
                    <a:pt x="461351" y="154689"/>
                  </a:cubicBezTo>
                  <a:lnTo>
                    <a:pt x="461351" y="1552704"/>
                  </a:lnTo>
                  <a:cubicBezTo>
                    <a:pt x="461351" y="1593730"/>
                    <a:pt x="445054" y="1633076"/>
                    <a:pt x="416044" y="1662085"/>
                  </a:cubicBezTo>
                  <a:cubicBezTo>
                    <a:pt x="387034" y="1691095"/>
                    <a:pt x="347689" y="1707392"/>
                    <a:pt x="306663" y="1707392"/>
                  </a:cubicBezTo>
                  <a:lnTo>
                    <a:pt x="154689" y="1707392"/>
                  </a:lnTo>
                  <a:cubicBezTo>
                    <a:pt x="113663" y="1707392"/>
                    <a:pt x="74317" y="1691095"/>
                    <a:pt x="45307" y="1662085"/>
                  </a:cubicBezTo>
                  <a:cubicBezTo>
                    <a:pt x="16298" y="1633076"/>
                    <a:pt x="0" y="1593730"/>
                    <a:pt x="0" y="1552704"/>
                  </a:cubicBezTo>
                  <a:lnTo>
                    <a:pt x="0" y="154689"/>
                  </a:lnTo>
                  <a:cubicBezTo>
                    <a:pt x="0" y="113663"/>
                    <a:pt x="16298" y="74317"/>
                    <a:pt x="45307" y="45307"/>
                  </a:cubicBezTo>
                  <a:cubicBezTo>
                    <a:pt x="74317" y="16298"/>
                    <a:pt x="113663" y="0"/>
                    <a:pt x="154689" y="0"/>
                  </a:cubicBez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1351" cy="17454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584419" y="1902122"/>
            <a:ext cx="1205800" cy="1205800"/>
            <a:chOff x="0" y="0"/>
            <a:chExt cx="317577" cy="31757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17577" cy="317577"/>
            </a:xfrm>
            <a:custGeom>
              <a:avLst/>
              <a:gdLst/>
              <a:ahLst/>
              <a:cxnLst/>
              <a:rect r="r" b="b" t="t" l="l"/>
              <a:pathLst>
                <a:path h="317577" w="317577">
                  <a:moveTo>
                    <a:pt x="158789" y="0"/>
                  </a:moveTo>
                  <a:lnTo>
                    <a:pt x="158789" y="0"/>
                  </a:lnTo>
                  <a:cubicBezTo>
                    <a:pt x="200902" y="0"/>
                    <a:pt x="241290" y="16729"/>
                    <a:pt x="271069" y="46508"/>
                  </a:cubicBezTo>
                  <a:cubicBezTo>
                    <a:pt x="300848" y="76287"/>
                    <a:pt x="317577" y="116675"/>
                    <a:pt x="317577" y="158789"/>
                  </a:cubicBezTo>
                  <a:lnTo>
                    <a:pt x="317577" y="158789"/>
                  </a:lnTo>
                  <a:cubicBezTo>
                    <a:pt x="317577" y="200902"/>
                    <a:pt x="300848" y="241290"/>
                    <a:pt x="271069" y="271069"/>
                  </a:cubicBezTo>
                  <a:cubicBezTo>
                    <a:pt x="241290" y="300848"/>
                    <a:pt x="200902" y="317577"/>
                    <a:pt x="158789" y="317577"/>
                  </a:cubicBezTo>
                  <a:lnTo>
                    <a:pt x="158789" y="317577"/>
                  </a:lnTo>
                  <a:cubicBezTo>
                    <a:pt x="116675" y="317577"/>
                    <a:pt x="76287" y="300848"/>
                    <a:pt x="46508" y="271069"/>
                  </a:cubicBezTo>
                  <a:cubicBezTo>
                    <a:pt x="16729" y="241290"/>
                    <a:pt x="0" y="200902"/>
                    <a:pt x="0" y="158789"/>
                  </a:cubicBezTo>
                  <a:lnTo>
                    <a:pt x="0" y="158789"/>
                  </a:lnTo>
                  <a:cubicBezTo>
                    <a:pt x="0" y="116675"/>
                    <a:pt x="16729" y="76287"/>
                    <a:pt x="46508" y="46508"/>
                  </a:cubicBezTo>
                  <a:cubicBezTo>
                    <a:pt x="76287" y="16729"/>
                    <a:pt x="116675" y="0"/>
                    <a:pt x="158789" y="0"/>
                  </a:cubicBezTo>
                  <a:close/>
                </a:path>
              </a:pathLst>
            </a:custGeom>
            <a:solidFill>
              <a:srgbClr val="21212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17577" cy="355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209843" y="-602900"/>
            <a:ext cx="4554972" cy="1205800"/>
            <a:chOff x="0" y="0"/>
            <a:chExt cx="1199663" cy="31757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99663" cy="317577"/>
            </a:xfrm>
            <a:custGeom>
              <a:avLst/>
              <a:gdLst/>
              <a:ahLst/>
              <a:cxnLst/>
              <a:rect r="r" b="b" t="t" l="l"/>
              <a:pathLst>
                <a:path h="317577" w="1199663">
                  <a:moveTo>
                    <a:pt x="86683" y="0"/>
                  </a:moveTo>
                  <a:lnTo>
                    <a:pt x="1112981" y="0"/>
                  </a:lnTo>
                  <a:cubicBezTo>
                    <a:pt x="1160854" y="0"/>
                    <a:pt x="1199663" y="38809"/>
                    <a:pt x="1199663" y="86683"/>
                  </a:cubicBezTo>
                  <a:lnTo>
                    <a:pt x="1199663" y="230894"/>
                  </a:lnTo>
                  <a:cubicBezTo>
                    <a:pt x="1199663" y="253884"/>
                    <a:pt x="1190531" y="275932"/>
                    <a:pt x="1174275" y="292188"/>
                  </a:cubicBezTo>
                  <a:cubicBezTo>
                    <a:pt x="1158018" y="308444"/>
                    <a:pt x="1135970" y="317577"/>
                    <a:pt x="1112981" y="317577"/>
                  </a:cubicBezTo>
                  <a:lnTo>
                    <a:pt x="86683" y="317577"/>
                  </a:lnTo>
                  <a:cubicBezTo>
                    <a:pt x="38809" y="317577"/>
                    <a:pt x="0" y="278768"/>
                    <a:pt x="0" y="230894"/>
                  </a:cubicBezTo>
                  <a:lnTo>
                    <a:pt x="0" y="86683"/>
                  </a:lnTo>
                  <a:cubicBezTo>
                    <a:pt x="0" y="38809"/>
                    <a:pt x="38809" y="0"/>
                    <a:pt x="86683" y="0"/>
                  </a:cubicBezTo>
                  <a:close/>
                </a:path>
              </a:pathLst>
            </a:custGeom>
            <a:solidFill>
              <a:srgbClr val="2449C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199663" cy="355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942871" y="9684100"/>
            <a:ext cx="4554972" cy="1205800"/>
            <a:chOff x="0" y="0"/>
            <a:chExt cx="1199663" cy="31757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99663" cy="317577"/>
            </a:xfrm>
            <a:custGeom>
              <a:avLst/>
              <a:gdLst/>
              <a:ahLst/>
              <a:cxnLst/>
              <a:rect r="r" b="b" t="t" l="l"/>
              <a:pathLst>
                <a:path h="317577" w="1199663">
                  <a:moveTo>
                    <a:pt x="86683" y="0"/>
                  </a:moveTo>
                  <a:lnTo>
                    <a:pt x="1112981" y="0"/>
                  </a:lnTo>
                  <a:cubicBezTo>
                    <a:pt x="1160854" y="0"/>
                    <a:pt x="1199663" y="38809"/>
                    <a:pt x="1199663" y="86683"/>
                  </a:cubicBezTo>
                  <a:lnTo>
                    <a:pt x="1199663" y="230894"/>
                  </a:lnTo>
                  <a:cubicBezTo>
                    <a:pt x="1199663" y="253884"/>
                    <a:pt x="1190531" y="275932"/>
                    <a:pt x="1174275" y="292188"/>
                  </a:cubicBezTo>
                  <a:cubicBezTo>
                    <a:pt x="1158018" y="308444"/>
                    <a:pt x="1135970" y="317577"/>
                    <a:pt x="1112981" y="317577"/>
                  </a:cubicBezTo>
                  <a:lnTo>
                    <a:pt x="86683" y="317577"/>
                  </a:lnTo>
                  <a:cubicBezTo>
                    <a:pt x="38809" y="317577"/>
                    <a:pt x="0" y="278768"/>
                    <a:pt x="0" y="230894"/>
                  </a:cubicBezTo>
                  <a:lnTo>
                    <a:pt x="0" y="86683"/>
                  </a:lnTo>
                  <a:cubicBezTo>
                    <a:pt x="0" y="38809"/>
                    <a:pt x="38809" y="0"/>
                    <a:pt x="86683" y="0"/>
                  </a:cubicBezTo>
                  <a:close/>
                </a:path>
              </a:pathLst>
            </a:custGeom>
            <a:solidFill>
              <a:srgbClr val="2449C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199663" cy="355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7719135" y="2332620"/>
            <a:ext cx="477709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 spc="-12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33115" y="1365609"/>
            <a:ext cx="8842760" cy="1742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96"/>
              </a:lnSpc>
            </a:pPr>
            <a:r>
              <a:rPr lang="en-US" b="true" sz="7200" spc="-518">
                <a:solidFill>
                  <a:srgbClr val="21212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LOW FREQUENCY ASSUMPTIONS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6075622" y="425800"/>
            <a:ext cx="1183678" cy="1205800"/>
            <a:chOff x="0" y="0"/>
            <a:chExt cx="311750" cy="31757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11750" cy="317577"/>
            </a:xfrm>
            <a:custGeom>
              <a:avLst/>
              <a:gdLst/>
              <a:ahLst/>
              <a:cxnLst/>
              <a:rect r="r" b="b" t="t" l="l"/>
              <a:pathLst>
                <a:path h="317577" w="311750">
                  <a:moveTo>
                    <a:pt x="155875" y="0"/>
                  </a:moveTo>
                  <a:lnTo>
                    <a:pt x="155875" y="0"/>
                  </a:lnTo>
                  <a:cubicBezTo>
                    <a:pt x="197216" y="0"/>
                    <a:pt x="236863" y="16423"/>
                    <a:pt x="266096" y="45655"/>
                  </a:cubicBezTo>
                  <a:cubicBezTo>
                    <a:pt x="295328" y="74887"/>
                    <a:pt x="311750" y="114535"/>
                    <a:pt x="311750" y="155875"/>
                  </a:cubicBezTo>
                  <a:lnTo>
                    <a:pt x="311750" y="161702"/>
                  </a:lnTo>
                  <a:cubicBezTo>
                    <a:pt x="311750" y="203042"/>
                    <a:pt x="295328" y="242690"/>
                    <a:pt x="266096" y="271922"/>
                  </a:cubicBezTo>
                  <a:cubicBezTo>
                    <a:pt x="236863" y="301155"/>
                    <a:pt x="197216" y="317577"/>
                    <a:pt x="155875" y="317577"/>
                  </a:cubicBezTo>
                  <a:lnTo>
                    <a:pt x="155875" y="317577"/>
                  </a:lnTo>
                  <a:cubicBezTo>
                    <a:pt x="114535" y="317577"/>
                    <a:pt x="74887" y="301155"/>
                    <a:pt x="45655" y="271922"/>
                  </a:cubicBezTo>
                  <a:cubicBezTo>
                    <a:pt x="16423" y="242690"/>
                    <a:pt x="0" y="203042"/>
                    <a:pt x="0" y="161702"/>
                  </a:cubicBezTo>
                  <a:lnTo>
                    <a:pt x="0" y="155875"/>
                  </a:lnTo>
                  <a:cubicBezTo>
                    <a:pt x="0" y="114535"/>
                    <a:pt x="16423" y="74887"/>
                    <a:pt x="45655" y="45655"/>
                  </a:cubicBezTo>
                  <a:cubicBezTo>
                    <a:pt x="74887" y="16423"/>
                    <a:pt x="114535" y="0"/>
                    <a:pt x="155875" y="0"/>
                  </a:cubicBezTo>
                  <a:close/>
                </a:path>
              </a:pathLst>
            </a:custGeom>
            <a:solidFill>
              <a:srgbClr val="2449CC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11750" cy="355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6274074" y="638847"/>
            <a:ext cx="779706" cy="779706"/>
          </a:xfrm>
          <a:custGeom>
            <a:avLst/>
            <a:gdLst/>
            <a:ahLst/>
            <a:cxnLst/>
            <a:rect r="r" b="b" t="t" l="l"/>
            <a:pathLst>
              <a:path h="779706" w="779706">
                <a:moveTo>
                  <a:pt x="0" y="0"/>
                </a:moveTo>
                <a:lnTo>
                  <a:pt x="779706" y="0"/>
                </a:lnTo>
                <a:lnTo>
                  <a:pt x="779706" y="779706"/>
                </a:lnTo>
                <a:lnTo>
                  <a:pt x="0" y="7797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333115" y="4450337"/>
            <a:ext cx="6704598" cy="1800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7"/>
              </a:lnSpc>
              <a:spcBef>
                <a:spcPct val="0"/>
              </a:spcBef>
            </a:pPr>
            <a:r>
              <a:rPr lang="en-US" sz="260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1. Coupling Capacitors Matter</a:t>
            </a:r>
          </a:p>
          <a:p>
            <a:pPr algn="l">
              <a:lnSpc>
                <a:spcPts val="3647"/>
              </a:lnSpc>
              <a:spcBef>
                <a:spcPct val="0"/>
              </a:spcBef>
            </a:pPr>
            <a:r>
              <a:rPr lang="en-US" sz="260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2. Small Signal Model is Used</a:t>
            </a:r>
          </a:p>
          <a:p>
            <a:pPr algn="l">
              <a:lnSpc>
                <a:spcPts val="3647"/>
              </a:lnSpc>
              <a:spcBef>
                <a:spcPct val="0"/>
              </a:spcBef>
            </a:pPr>
            <a:r>
              <a:rPr lang="en-US" sz="260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3. High-Frequency Capacitors Are Ignored</a:t>
            </a:r>
          </a:p>
          <a:p>
            <a:pPr algn="l">
              <a:lnSpc>
                <a:spcPts val="3647"/>
              </a:lnSpc>
              <a:spcBef>
                <a:spcPct val="0"/>
              </a:spcBef>
            </a:pPr>
            <a:r>
              <a:rPr lang="en-US" sz="260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4. One Capacitor Is Analyzed at a Time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914372" y="1902122"/>
            <a:ext cx="1751694" cy="6482756"/>
            <a:chOff x="0" y="0"/>
            <a:chExt cx="461351" cy="17073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1351" cy="1707392"/>
            </a:xfrm>
            <a:custGeom>
              <a:avLst/>
              <a:gdLst/>
              <a:ahLst/>
              <a:cxnLst/>
              <a:rect r="r" b="b" t="t" l="l"/>
              <a:pathLst>
                <a:path h="1707392" w="461351">
                  <a:moveTo>
                    <a:pt x="154689" y="0"/>
                  </a:moveTo>
                  <a:lnTo>
                    <a:pt x="306663" y="0"/>
                  </a:lnTo>
                  <a:cubicBezTo>
                    <a:pt x="347689" y="0"/>
                    <a:pt x="387034" y="16298"/>
                    <a:pt x="416044" y="45307"/>
                  </a:cubicBezTo>
                  <a:cubicBezTo>
                    <a:pt x="445054" y="74317"/>
                    <a:pt x="461351" y="113663"/>
                    <a:pt x="461351" y="154689"/>
                  </a:cubicBezTo>
                  <a:lnTo>
                    <a:pt x="461351" y="1552704"/>
                  </a:lnTo>
                  <a:cubicBezTo>
                    <a:pt x="461351" y="1593730"/>
                    <a:pt x="445054" y="1633076"/>
                    <a:pt x="416044" y="1662085"/>
                  </a:cubicBezTo>
                  <a:cubicBezTo>
                    <a:pt x="387034" y="1691095"/>
                    <a:pt x="347689" y="1707392"/>
                    <a:pt x="306663" y="1707392"/>
                  </a:cubicBezTo>
                  <a:lnTo>
                    <a:pt x="154689" y="1707392"/>
                  </a:lnTo>
                  <a:cubicBezTo>
                    <a:pt x="113663" y="1707392"/>
                    <a:pt x="74317" y="1691095"/>
                    <a:pt x="45307" y="1662085"/>
                  </a:cubicBezTo>
                  <a:cubicBezTo>
                    <a:pt x="16298" y="1633076"/>
                    <a:pt x="0" y="1593730"/>
                    <a:pt x="0" y="1552704"/>
                  </a:cubicBezTo>
                  <a:lnTo>
                    <a:pt x="0" y="154689"/>
                  </a:lnTo>
                  <a:cubicBezTo>
                    <a:pt x="0" y="113663"/>
                    <a:pt x="16298" y="74317"/>
                    <a:pt x="45307" y="45307"/>
                  </a:cubicBezTo>
                  <a:cubicBezTo>
                    <a:pt x="74317" y="16298"/>
                    <a:pt x="113663" y="0"/>
                    <a:pt x="154689" y="0"/>
                  </a:cubicBez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1351" cy="17454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584419" y="1902122"/>
            <a:ext cx="1205800" cy="1205800"/>
            <a:chOff x="0" y="0"/>
            <a:chExt cx="317577" cy="31757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17577" cy="317577"/>
            </a:xfrm>
            <a:custGeom>
              <a:avLst/>
              <a:gdLst/>
              <a:ahLst/>
              <a:cxnLst/>
              <a:rect r="r" b="b" t="t" l="l"/>
              <a:pathLst>
                <a:path h="317577" w="317577">
                  <a:moveTo>
                    <a:pt x="158789" y="0"/>
                  </a:moveTo>
                  <a:lnTo>
                    <a:pt x="158789" y="0"/>
                  </a:lnTo>
                  <a:cubicBezTo>
                    <a:pt x="200902" y="0"/>
                    <a:pt x="241290" y="16729"/>
                    <a:pt x="271069" y="46508"/>
                  </a:cubicBezTo>
                  <a:cubicBezTo>
                    <a:pt x="300848" y="76287"/>
                    <a:pt x="317577" y="116675"/>
                    <a:pt x="317577" y="158789"/>
                  </a:cubicBezTo>
                  <a:lnTo>
                    <a:pt x="317577" y="158789"/>
                  </a:lnTo>
                  <a:cubicBezTo>
                    <a:pt x="317577" y="200902"/>
                    <a:pt x="300848" y="241290"/>
                    <a:pt x="271069" y="271069"/>
                  </a:cubicBezTo>
                  <a:cubicBezTo>
                    <a:pt x="241290" y="300848"/>
                    <a:pt x="200902" y="317577"/>
                    <a:pt x="158789" y="317577"/>
                  </a:cubicBezTo>
                  <a:lnTo>
                    <a:pt x="158789" y="317577"/>
                  </a:lnTo>
                  <a:cubicBezTo>
                    <a:pt x="116675" y="317577"/>
                    <a:pt x="76287" y="300848"/>
                    <a:pt x="46508" y="271069"/>
                  </a:cubicBezTo>
                  <a:cubicBezTo>
                    <a:pt x="16729" y="241290"/>
                    <a:pt x="0" y="200902"/>
                    <a:pt x="0" y="158789"/>
                  </a:cubicBezTo>
                  <a:lnTo>
                    <a:pt x="0" y="158789"/>
                  </a:lnTo>
                  <a:cubicBezTo>
                    <a:pt x="0" y="116675"/>
                    <a:pt x="16729" y="76287"/>
                    <a:pt x="46508" y="46508"/>
                  </a:cubicBezTo>
                  <a:cubicBezTo>
                    <a:pt x="76287" y="16729"/>
                    <a:pt x="116675" y="0"/>
                    <a:pt x="158789" y="0"/>
                  </a:cubicBezTo>
                  <a:close/>
                </a:path>
              </a:pathLst>
            </a:custGeom>
            <a:solidFill>
              <a:srgbClr val="21212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17577" cy="355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209843" y="-602900"/>
            <a:ext cx="4554972" cy="1205800"/>
            <a:chOff x="0" y="0"/>
            <a:chExt cx="1199663" cy="31757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99663" cy="317577"/>
            </a:xfrm>
            <a:custGeom>
              <a:avLst/>
              <a:gdLst/>
              <a:ahLst/>
              <a:cxnLst/>
              <a:rect r="r" b="b" t="t" l="l"/>
              <a:pathLst>
                <a:path h="317577" w="1199663">
                  <a:moveTo>
                    <a:pt x="86683" y="0"/>
                  </a:moveTo>
                  <a:lnTo>
                    <a:pt x="1112981" y="0"/>
                  </a:lnTo>
                  <a:cubicBezTo>
                    <a:pt x="1160854" y="0"/>
                    <a:pt x="1199663" y="38809"/>
                    <a:pt x="1199663" y="86683"/>
                  </a:cubicBezTo>
                  <a:lnTo>
                    <a:pt x="1199663" y="230894"/>
                  </a:lnTo>
                  <a:cubicBezTo>
                    <a:pt x="1199663" y="253884"/>
                    <a:pt x="1190531" y="275932"/>
                    <a:pt x="1174275" y="292188"/>
                  </a:cubicBezTo>
                  <a:cubicBezTo>
                    <a:pt x="1158018" y="308444"/>
                    <a:pt x="1135970" y="317577"/>
                    <a:pt x="1112981" y="317577"/>
                  </a:cubicBezTo>
                  <a:lnTo>
                    <a:pt x="86683" y="317577"/>
                  </a:lnTo>
                  <a:cubicBezTo>
                    <a:pt x="38809" y="317577"/>
                    <a:pt x="0" y="278768"/>
                    <a:pt x="0" y="230894"/>
                  </a:cubicBezTo>
                  <a:lnTo>
                    <a:pt x="0" y="86683"/>
                  </a:lnTo>
                  <a:cubicBezTo>
                    <a:pt x="0" y="38809"/>
                    <a:pt x="38809" y="0"/>
                    <a:pt x="86683" y="0"/>
                  </a:cubicBezTo>
                  <a:close/>
                </a:path>
              </a:pathLst>
            </a:custGeom>
            <a:solidFill>
              <a:srgbClr val="2449C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199663" cy="355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942871" y="9684100"/>
            <a:ext cx="4554972" cy="1205800"/>
            <a:chOff x="0" y="0"/>
            <a:chExt cx="1199663" cy="31757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99663" cy="317577"/>
            </a:xfrm>
            <a:custGeom>
              <a:avLst/>
              <a:gdLst/>
              <a:ahLst/>
              <a:cxnLst/>
              <a:rect r="r" b="b" t="t" l="l"/>
              <a:pathLst>
                <a:path h="317577" w="1199663">
                  <a:moveTo>
                    <a:pt x="86683" y="0"/>
                  </a:moveTo>
                  <a:lnTo>
                    <a:pt x="1112981" y="0"/>
                  </a:lnTo>
                  <a:cubicBezTo>
                    <a:pt x="1160854" y="0"/>
                    <a:pt x="1199663" y="38809"/>
                    <a:pt x="1199663" y="86683"/>
                  </a:cubicBezTo>
                  <a:lnTo>
                    <a:pt x="1199663" y="230894"/>
                  </a:lnTo>
                  <a:cubicBezTo>
                    <a:pt x="1199663" y="253884"/>
                    <a:pt x="1190531" y="275932"/>
                    <a:pt x="1174275" y="292188"/>
                  </a:cubicBezTo>
                  <a:cubicBezTo>
                    <a:pt x="1158018" y="308444"/>
                    <a:pt x="1135970" y="317577"/>
                    <a:pt x="1112981" y="317577"/>
                  </a:cubicBezTo>
                  <a:lnTo>
                    <a:pt x="86683" y="317577"/>
                  </a:lnTo>
                  <a:cubicBezTo>
                    <a:pt x="38809" y="317577"/>
                    <a:pt x="0" y="278768"/>
                    <a:pt x="0" y="230894"/>
                  </a:cubicBezTo>
                  <a:lnTo>
                    <a:pt x="0" y="86683"/>
                  </a:lnTo>
                  <a:cubicBezTo>
                    <a:pt x="0" y="38809"/>
                    <a:pt x="38809" y="0"/>
                    <a:pt x="86683" y="0"/>
                  </a:cubicBezTo>
                  <a:close/>
                </a:path>
              </a:pathLst>
            </a:custGeom>
            <a:solidFill>
              <a:srgbClr val="2449C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199663" cy="355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7719135" y="2332620"/>
            <a:ext cx="477709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 spc="-12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22607" y="1027805"/>
            <a:ext cx="13225738" cy="1404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5"/>
              </a:lnSpc>
            </a:pPr>
            <a:r>
              <a:rPr lang="en-US" b="true" sz="5736" spc="-413">
                <a:solidFill>
                  <a:srgbClr val="21212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SMALL SIGNAL LOW FREQUENCY EQUIVALENT CIRCUIT 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3114708" y="3431946"/>
            <a:ext cx="11541038" cy="4603215"/>
            <a:chOff x="0" y="0"/>
            <a:chExt cx="1849331" cy="73761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49331" cy="737617"/>
            </a:xfrm>
            <a:custGeom>
              <a:avLst/>
              <a:gdLst/>
              <a:ahLst/>
              <a:cxnLst/>
              <a:rect r="r" b="b" t="t" l="l"/>
              <a:pathLst>
                <a:path h="737617" w="1849331">
                  <a:moveTo>
                    <a:pt x="15429" y="0"/>
                  </a:moveTo>
                  <a:lnTo>
                    <a:pt x="1833902" y="0"/>
                  </a:lnTo>
                  <a:cubicBezTo>
                    <a:pt x="1837994" y="0"/>
                    <a:pt x="1841918" y="1626"/>
                    <a:pt x="1844812" y="4519"/>
                  </a:cubicBezTo>
                  <a:cubicBezTo>
                    <a:pt x="1847705" y="7412"/>
                    <a:pt x="1849331" y="11337"/>
                    <a:pt x="1849331" y="15429"/>
                  </a:cubicBezTo>
                  <a:lnTo>
                    <a:pt x="1849331" y="722188"/>
                  </a:lnTo>
                  <a:cubicBezTo>
                    <a:pt x="1849331" y="726280"/>
                    <a:pt x="1847705" y="730205"/>
                    <a:pt x="1844812" y="733098"/>
                  </a:cubicBezTo>
                  <a:cubicBezTo>
                    <a:pt x="1841918" y="735992"/>
                    <a:pt x="1837994" y="737617"/>
                    <a:pt x="1833902" y="737617"/>
                  </a:cubicBezTo>
                  <a:lnTo>
                    <a:pt x="15429" y="737617"/>
                  </a:lnTo>
                  <a:cubicBezTo>
                    <a:pt x="11337" y="737617"/>
                    <a:pt x="7412" y="735992"/>
                    <a:pt x="4519" y="733098"/>
                  </a:cubicBezTo>
                  <a:cubicBezTo>
                    <a:pt x="1626" y="730205"/>
                    <a:pt x="0" y="726280"/>
                    <a:pt x="0" y="722188"/>
                  </a:cubicBezTo>
                  <a:lnTo>
                    <a:pt x="0" y="15429"/>
                  </a:lnTo>
                  <a:cubicBezTo>
                    <a:pt x="0" y="11337"/>
                    <a:pt x="1626" y="7412"/>
                    <a:pt x="4519" y="4519"/>
                  </a:cubicBezTo>
                  <a:cubicBezTo>
                    <a:pt x="7412" y="1626"/>
                    <a:pt x="11337" y="0"/>
                    <a:pt x="15429" y="0"/>
                  </a:cubicBezTo>
                  <a:close/>
                </a:path>
              </a:pathLst>
            </a:custGeom>
            <a:blipFill>
              <a:blip r:embed="rId2"/>
              <a:stretch>
                <a:fillRect l="-9725" t="0" r="-9725" b="0"/>
              </a:stretch>
            </a:blipFill>
            <a:ln w="9525" cap="rnd">
              <a:solidFill>
                <a:srgbClr val="212121"/>
              </a:solidFill>
              <a:prstDash val="solid"/>
              <a:round/>
            </a:ln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914372" y="1902122"/>
            <a:ext cx="1751694" cy="6482756"/>
            <a:chOff x="0" y="0"/>
            <a:chExt cx="461351" cy="17073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1351" cy="1707392"/>
            </a:xfrm>
            <a:custGeom>
              <a:avLst/>
              <a:gdLst/>
              <a:ahLst/>
              <a:cxnLst/>
              <a:rect r="r" b="b" t="t" l="l"/>
              <a:pathLst>
                <a:path h="1707392" w="461351">
                  <a:moveTo>
                    <a:pt x="154689" y="0"/>
                  </a:moveTo>
                  <a:lnTo>
                    <a:pt x="306663" y="0"/>
                  </a:lnTo>
                  <a:cubicBezTo>
                    <a:pt x="347689" y="0"/>
                    <a:pt x="387034" y="16298"/>
                    <a:pt x="416044" y="45307"/>
                  </a:cubicBezTo>
                  <a:cubicBezTo>
                    <a:pt x="445054" y="74317"/>
                    <a:pt x="461351" y="113663"/>
                    <a:pt x="461351" y="154689"/>
                  </a:cubicBezTo>
                  <a:lnTo>
                    <a:pt x="461351" y="1552704"/>
                  </a:lnTo>
                  <a:cubicBezTo>
                    <a:pt x="461351" y="1593730"/>
                    <a:pt x="445054" y="1633076"/>
                    <a:pt x="416044" y="1662085"/>
                  </a:cubicBezTo>
                  <a:cubicBezTo>
                    <a:pt x="387034" y="1691095"/>
                    <a:pt x="347689" y="1707392"/>
                    <a:pt x="306663" y="1707392"/>
                  </a:cubicBezTo>
                  <a:lnTo>
                    <a:pt x="154689" y="1707392"/>
                  </a:lnTo>
                  <a:cubicBezTo>
                    <a:pt x="113663" y="1707392"/>
                    <a:pt x="74317" y="1691095"/>
                    <a:pt x="45307" y="1662085"/>
                  </a:cubicBezTo>
                  <a:cubicBezTo>
                    <a:pt x="16298" y="1633076"/>
                    <a:pt x="0" y="1593730"/>
                    <a:pt x="0" y="1552704"/>
                  </a:cubicBezTo>
                  <a:lnTo>
                    <a:pt x="0" y="154689"/>
                  </a:lnTo>
                  <a:cubicBezTo>
                    <a:pt x="0" y="113663"/>
                    <a:pt x="16298" y="74317"/>
                    <a:pt x="45307" y="45307"/>
                  </a:cubicBezTo>
                  <a:cubicBezTo>
                    <a:pt x="74317" y="16298"/>
                    <a:pt x="113663" y="0"/>
                    <a:pt x="154689" y="0"/>
                  </a:cubicBez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1351" cy="17454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584419" y="1902122"/>
            <a:ext cx="1205800" cy="1205800"/>
            <a:chOff x="0" y="0"/>
            <a:chExt cx="317577" cy="31757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17577" cy="317577"/>
            </a:xfrm>
            <a:custGeom>
              <a:avLst/>
              <a:gdLst/>
              <a:ahLst/>
              <a:cxnLst/>
              <a:rect r="r" b="b" t="t" l="l"/>
              <a:pathLst>
                <a:path h="317577" w="317577">
                  <a:moveTo>
                    <a:pt x="158789" y="0"/>
                  </a:moveTo>
                  <a:lnTo>
                    <a:pt x="158789" y="0"/>
                  </a:lnTo>
                  <a:cubicBezTo>
                    <a:pt x="200902" y="0"/>
                    <a:pt x="241290" y="16729"/>
                    <a:pt x="271069" y="46508"/>
                  </a:cubicBezTo>
                  <a:cubicBezTo>
                    <a:pt x="300848" y="76287"/>
                    <a:pt x="317577" y="116675"/>
                    <a:pt x="317577" y="158789"/>
                  </a:cubicBezTo>
                  <a:lnTo>
                    <a:pt x="317577" y="158789"/>
                  </a:lnTo>
                  <a:cubicBezTo>
                    <a:pt x="317577" y="200902"/>
                    <a:pt x="300848" y="241290"/>
                    <a:pt x="271069" y="271069"/>
                  </a:cubicBezTo>
                  <a:cubicBezTo>
                    <a:pt x="241290" y="300848"/>
                    <a:pt x="200902" y="317577"/>
                    <a:pt x="158789" y="317577"/>
                  </a:cubicBezTo>
                  <a:lnTo>
                    <a:pt x="158789" y="317577"/>
                  </a:lnTo>
                  <a:cubicBezTo>
                    <a:pt x="116675" y="317577"/>
                    <a:pt x="76287" y="300848"/>
                    <a:pt x="46508" y="271069"/>
                  </a:cubicBezTo>
                  <a:cubicBezTo>
                    <a:pt x="16729" y="241290"/>
                    <a:pt x="0" y="200902"/>
                    <a:pt x="0" y="158789"/>
                  </a:cubicBezTo>
                  <a:lnTo>
                    <a:pt x="0" y="158789"/>
                  </a:lnTo>
                  <a:cubicBezTo>
                    <a:pt x="0" y="116675"/>
                    <a:pt x="16729" y="76287"/>
                    <a:pt x="46508" y="46508"/>
                  </a:cubicBezTo>
                  <a:cubicBezTo>
                    <a:pt x="76287" y="16729"/>
                    <a:pt x="116675" y="0"/>
                    <a:pt x="158789" y="0"/>
                  </a:cubicBezTo>
                  <a:close/>
                </a:path>
              </a:pathLst>
            </a:custGeom>
            <a:solidFill>
              <a:srgbClr val="21212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17577" cy="355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209843" y="-602900"/>
            <a:ext cx="4554972" cy="1205800"/>
            <a:chOff x="0" y="0"/>
            <a:chExt cx="1199663" cy="31757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99663" cy="317577"/>
            </a:xfrm>
            <a:custGeom>
              <a:avLst/>
              <a:gdLst/>
              <a:ahLst/>
              <a:cxnLst/>
              <a:rect r="r" b="b" t="t" l="l"/>
              <a:pathLst>
                <a:path h="317577" w="1199663">
                  <a:moveTo>
                    <a:pt x="86683" y="0"/>
                  </a:moveTo>
                  <a:lnTo>
                    <a:pt x="1112981" y="0"/>
                  </a:lnTo>
                  <a:cubicBezTo>
                    <a:pt x="1160854" y="0"/>
                    <a:pt x="1199663" y="38809"/>
                    <a:pt x="1199663" y="86683"/>
                  </a:cubicBezTo>
                  <a:lnTo>
                    <a:pt x="1199663" y="230894"/>
                  </a:lnTo>
                  <a:cubicBezTo>
                    <a:pt x="1199663" y="253884"/>
                    <a:pt x="1190531" y="275932"/>
                    <a:pt x="1174275" y="292188"/>
                  </a:cubicBezTo>
                  <a:cubicBezTo>
                    <a:pt x="1158018" y="308444"/>
                    <a:pt x="1135970" y="317577"/>
                    <a:pt x="1112981" y="317577"/>
                  </a:cubicBezTo>
                  <a:lnTo>
                    <a:pt x="86683" y="317577"/>
                  </a:lnTo>
                  <a:cubicBezTo>
                    <a:pt x="38809" y="317577"/>
                    <a:pt x="0" y="278768"/>
                    <a:pt x="0" y="230894"/>
                  </a:cubicBezTo>
                  <a:lnTo>
                    <a:pt x="0" y="86683"/>
                  </a:lnTo>
                  <a:cubicBezTo>
                    <a:pt x="0" y="38809"/>
                    <a:pt x="38809" y="0"/>
                    <a:pt x="86683" y="0"/>
                  </a:cubicBezTo>
                  <a:close/>
                </a:path>
              </a:pathLst>
            </a:custGeom>
            <a:solidFill>
              <a:srgbClr val="2449C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199663" cy="355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942871" y="9684100"/>
            <a:ext cx="4554972" cy="1205800"/>
            <a:chOff x="0" y="0"/>
            <a:chExt cx="1199663" cy="31757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99663" cy="317577"/>
            </a:xfrm>
            <a:custGeom>
              <a:avLst/>
              <a:gdLst/>
              <a:ahLst/>
              <a:cxnLst/>
              <a:rect r="r" b="b" t="t" l="l"/>
              <a:pathLst>
                <a:path h="317577" w="1199663">
                  <a:moveTo>
                    <a:pt x="86683" y="0"/>
                  </a:moveTo>
                  <a:lnTo>
                    <a:pt x="1112981" y="0"/>
                  </a:lnTo>
                  <a:cubicBezTo>
                    <a:pt x="1160854" y="0"/>
                    <a:pt x="1199663" y="38809"/>
                    <a:pt x="1199663" y="86683"/>
                  </a:cubicBezTo>
                  <a:lnTo>
                    <a:pt x="1199663" y="230894"/>
                  </a:lnTo>
                  <a:cubicBezTo>
                    <a:pt x="1199663" y="253884"/>
                    <a:pt x="1190531" y="275932"/>
                    <a:pt x="1174275" y="292188"/>
                  </a:cubicBezTo>
                  <a:cubicBezTo>
                    <a:pt x="1158018" y="308444"/>
                    <a:pt x="1135970" y="317577"/>
                    <a:pt x="1112981" y="317577"/>
                  </a:cubicBezTo>
                  <a:lnTo>
                    <a:pt x="86683" y="317577"/>
                  </a:lnTo>
                  <a:cubicBezTo>
                    <a:pt x="38809" y="317577"/>
                    <a:pt x="0" y="278768"/>
                    <a:pt x="0" y="230894"/>
                  </a:cubicBezTo>
                  <a:lnTo>
                    <a:pt x="0" y="86683"/>
                  </a:lnTo>
                  <a:cubicBezTo>
                    <a:pt x="0" y="38809"/>
                    <a:pt x="38809" y="0"/>
                    <a:pt x="86683" y="0"/>
                  </a:cubicBezTo>
                  <a:close/>
                </a:path>
              </a:pathLst>
            </a:custGeom>
            <a:solidFill>
              <a:srgbClr val="2449C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199663" cy="355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8743585" y="1611353"/>
            <a:ext cx="7973711" cy="7409274"/>
          </a:xfrm>
          <a:custGeom>
            <a:avLst/>
            <a:gdLst/>
            <a:ahLst/>
            <a:cxnLst/>
            <a:rect r="r" b="b" t="t" l="l"/>
            <a:pathLst>
              <a:path h="7409274" w="7973711">
                <a:moveTo>
                  <a:pt x="0" y="0"/>
                </a:moveTo>
                <a:lnTo>
                  <a:pt x="7973711" y="0"/>
                </a:lnTo>
                <a:lnTo>
                  <a:pt x="7973711" y="7409275"/>
                </a:lnTo>
                <a:lnTo>
                  <a:pt x="0" y="74092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237" t="0" r="-1109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7719135" y="2332620"/>
            <a:ext cx="477709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 spc="-12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5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77362" y="1599576"/>
            <a:ext cx="5737403" cy="1742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96"/>
              </a:lnSpc>
            </a:pPr>
            <a:r>
              <a:rPr lang="en-US" b="true" sz="7200" spc="-518">
                <a:solidFill>
                  <a:srgbClr val="21212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INPUT SIDE ANALYSIS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3836374"/>
            <a:ext cx="7381161" cy="676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0"/>
              </a:lnSpc>
            </a:pPr>
            <a:r>
              <a:rPr lang="en-US" sz="265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Now we analyze the input coupling capacitor.</a:t>
            </a:r>
          </a:p>
          <a:p>
            <a:pPr algn="l">
              <a:lnSpc>
                <a:spcPts val="265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914372" y="1902122"/>
            <a:ext cx="1751694" cy="6482756"/>
            <a:chOff x="0" y="0"/>
            <a:chExt cx="461351" cy="17073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1351" cy="1707392"/>
            </a:xfrm>
            <a:custGeom>
              <a:avLst/>
              <a:gdLst/>
              <a:ahLst/>
              <a:cxnLst/>
              <a:rect r="r" b="b" t="t" l="l"/>
              <a:pathLst>
                <a:path h="1707392" w="461351">
                  <a:moveTo>
                    <a:pt x="154689" y="0"/>
                  </a:moveTo>
                  <a:lnTo>
                    <a:pt x="306663" y="0"/>
                  </a:lnTo>
                  <a:cubicBezTo>
                    <a:pt x="347689" y="0"/>
                    <a:pt x="387034" y="16298"/>
                    <a:pt x="416044" y="45307"/>
                  </a:cubicBezTo>
                  <a:cubicBezTo>
                    <a:pt x="445054" y="74317"/>
                    <a:pt x="461351" y="113663"/>
                    <a:pt x="461351" y="154689"/>
                  </a:cubicBezTo>
                  <a:lnTo>
                    <a:pt x="461351" y="1552704"/>
                  </a:lnTo>
                  <a:cubicBezTo>
                    <a:pt x="461351" y="1593730"/>
                    <a:pt x="445054" y="1633076"/>
                    <a:pt x="416044" y="1662085"/>
                  </a:cubicBezTo>
                  <a:cubicBezTo>
                    <a:pt x="387034" y="1691095"/>
                    <a:pt x="347689" y="1707392"/>
                    <a:pt x="306663" y="1707392"/>
                  </a:cubicBezTo>
                  <a:lnTo>
                    <a:pt x="154689" y="1707392"/>
                  </a:lnTo>
                  <a:cubicBezTo>
                    <a:pt x="113663" y="1707392"/>
                    <a:pt x="74317" y="1691095"/>
                    <a:pt x="45307" y="1662085"/>
                  </a:cubicBezTo>
                  <a:cubicBezTo>
                    <a:pt x="16298" y="1633076"/>
                    <a:pt x="0" y="1593730"/>
                    <a:pt x="0" y="1552704"/>
                  </a:cubicBezTo>
                  <a:lnTo>
                    <a:pt x="0" y="154689"/>
                  </a:lnTo>
                  <a:cubicBezTo>
                    <a:pt x="0" y="113663"/>
                    <a:pt x="16298" y="74317"/>
                    <a:pt x="45307" y="45307"/>
                  </a:cubicBezTo>
                  <a:cubicBezTo>
                    <a:pt x="74317" y="16298"/>
                    <a:pt x="113663" y="0"/>
                    <a:pt x="154689" y="0"/>
                  </a:cubicBez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1351" cy="17454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584419" y="1902122"/>
            <a:ext cx="1205800" cy="1205800"/>
            <a:chOff x="0" y="0"/>
            <a:chExt cx="317577" cy="31757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17577" cy="317577"/>
            </a:xfrm>
            <a:custGeom>
              <a:avLst/>
              <a:gdLst/>
              <a:ahLst/>
              <a:cxnLst/>
              <a:rect r="r" b="b" t="t" l="l"/>
              <a:pathLst>
                <a:path h="317577" w="317577">
                  <a:moveTo>
                    <a:pt x="158789" y="0"/>
                  </a:moveTo>
                  <a:lnTo>
                    <a:pt x="158789" y="0"/>
                  </a:lnTo>
                  <a:cubicBezTo>
                    <a:pt x="200902" y="0"/>
                    <a:pt x="241290" y="16729"/>
                    <a:pt x="271069" y="46508"/>
                  </a:cubicBezTo>
                  <a:cubicBezTo>
                    <a:pt x="300848" y="76287"/>
                    <a:pt x="317577" y="116675"/>
                    <a:pt x="317577" y="158789"/>
                  </a:cubicBezTo>
                  <a:lnTo>
                    <a:pt x="317577" y="158789"/>
                  </a:lnTo>
                  <a:cubicBezTo>
                    <a:pt x="317577" y="200902"/>
                    <a:pt x="300848" y="241290"/>
                    <a:pt x="271069" y="271069"/>
                  </a:cubicBezTo>
                  <a:cubicBezTo>
                    <a:pt x="241290" y="300848"/>
                    <a:pt x="200902" y="317577"/>
                    <a:pt x="158789" y="317577"/>
                  </a:cubicBezTo>
                  <a:lnTo>
                    <a:pt x="158789" y="317577"/>
                  </a:lnTo>
                  <a:cubicBezTo>
                    <a:pt x="116675" y="317577"/>
                    <a:pt x="76287" y="300848"/>
                    <a:pt x="46508" y="271069"/>
                  </a:cubicBezTo>
                  <a:cubicBezTo>
                    <a:pt x="16729" y="241290"/>
                    <a:pt x="0" y="200902"/>
                    <a:pt x="0" y="158789"/>
                  </a:cubicBezTo>
                  <a:lnTo>
                    <a:pt x="0" y="158789"/>
                  </a:lnTo>
                  <a:cubicBezTo>
                    <a:pt x="0" y="116675"/>
                    <a:pt x="16729" y="76287"/>
                    <a:pt x="46508" y="46508"/>
                  </a:cubicBezTo>
                  <a:cubicBezTo>
                    <a:pt x="76287" y="16729"/>
                    <a:pt x="116675" y="0"/>
                    <a:pt x="158789" y="0"/>
                  </a:cubicBezTo>
                  <a:close/>
                </a:path>
              </a:pathLst>
            </a:custGeom>
            <a:solidFill>
              <a:srgbClr val="21212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17577" cy="355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209843" y="-602900"/>
            <a:ext cx="4554972" cy="1205800"/>
            <a:chOff x="0" y="0"/>
            <a:chExt cx="1199663" cy="31757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99663" cy="317577"/>
            </a:xfrm>
            <a:custGeom>
              <a:avLst/>
              <a:gdLst/>
              <a:ahLst/>
              <a:cxnLst/>
              <a:rect r="r" b="b" t="t" l="l"/>
              <a:pathLst>
                <a:path h="317577" w="1199663">
                  <a:moveTo>
                    <a:pt x="86683" y="0"/>
                  </a:moveTo>
                  <a:lnTo>
                    <a:pt x="1112981" y="0"/>
                  </a:lnTo>
                  <a:cubicBezTo>
                    <a:pt x="1160854" y="0"/>
                    <a:pt x="1199663" y="38809"/>
                    <a:pt x="1199663" y="86683"/>
                  </a:cubicBezTo>
                  <a:lnTo>
                    <a:pt x="1199663" y="230894"/>
                  </a:lnTo>
                  <a:cubicBezTo>
                    <a:pt x="1199663" y="253884"/>
                    <a:pt x="1190531" y="275932"/>
                    <a:pt x="1174275" y="292188"/>
                  </a:cubicBezTo>
                  <a:cubicBezTo>
                    <a:pt x="1158018" y="308444"/>
                    <a:pt x="1135970" y="317577"/>
                    <a:pt x="1112981" y="317577"/>
                  </a:cubicBezTo>
                  <a:lnTo>
                    <a:pt x="86683" y="317577"/>
                  </a:lnTo>
                  <a:cubicBezTo>
                    <a:pt x="38809" y="317577"/>
                    <a:pt x="0" y="278768"/>
                    <a:pt x="0" y="230894"/>
                  </a:cubicBezTo>
                  <a:lnTo>
                    <a:pt x="0" y="86683"/>
                  </a:lnTo>
                  <a:cubicBezTo>
                    <a:pt x="0" y="38809"/>
                    <a:pt x="38809" y="0"/>
                    <a:pt x="86683" y="0"/>
                  </a:cubicBezTo>
                  <a:close/>
                </a:path>
              </a:pathLst>
            </a:custGeom>
            <a:solidFill>
              <a:srgbClr val="2449C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199663" cy="355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942871" y="9684100"/>
            <a:ext cx="4554972" cy="1205800"/>
            <a:chOff x="0" y="0"/>
            <a:chExt cx="1199663" cy="31757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99663" cy="317577"/>
            </a:xfrm>
            <a:custGeom>
              <a:avLst/>
              <a:gdLst/>
              <a:ahLst/>
              <a:cxnLst/>
              <a:rect r="r" b="b" t="t" l="l"/>
              <a:pathLst>
                <a:path h="317577" w="1199663">
                  <a:moveTo>
                    <a:pt x="86683" y="0"/>
                  </a:moveTo>
                  <a:lnTo>
                    <a:pt x="1112981" y="0"/>
                  </a:lnTo>
                  <a:cubicBezTo>
                    <a:pt x="1160854" y="0"/>
                    <a:pt x="1199663" y="38809"/>
                    <a:pt x="1199663" y="86683"/>
                  </a:cubicBezTo>
                  <a:lnTo>
                    <a:pt x="1199663" y="230894"/>
                  </a:lnTo>
                  <a:cubicBezTo>
                    <a:pt x="1199663" y="253884"/>
                    <a:pt x="1190531" y="275932"/>
                    <a:pt x="1174275" y="292188"/>
                  </a:cubicBezTo>
                  <a:cubicBezTo>
                    <a:pt x="1158018" y="308444"/>
                    <a:pt x="1135970" y="317577"/>
                    <a:pt x="1112981" y="317577"/>
                  </a:cubicBezTo>
                  <a:lnTo>
                    <a:pt x="86683" y="317577"/>
                  </a:lnTo>
                  <a:cubicBezTo>
                    <a:pt x="38809" y="317577"/>
                    <a:pt x="0" y="278768"/>
                    <a:pt x="0" y="230894"/>
                  </a:cubicBezTo>
                  <a:lnTo>
                    <a:pt x="0" y="86683"/>
                  </a:lnTo>
                  <a:cubicBezTo>
                    <a:pt x="0" y="38809"/>
                    <a:pt x="38809" y="0"/>
                    <a:pt x="86683" y="0"/>
                  </a:cubicBezTo>
                  <a:close/>
                </a:path>
              </a:pathLst>
            </a:custGeom>
            <a:solidFill>
              <a:srgbClr val="2449C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199663" cy="355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3068964" y="4620851"/>
            <a:ext cx="8910811" cy="2018696"/>
          </a:xfrm>
          <a:custGeom>
            <a:avLst/>
            <a:gdLst/>
            <a:ahLst/>
            <a:cxnLst/>
            <a:rect r="r" b="b" t="t" l="l"/>
            <a:pathLst>
              <a:path h="2018696" w="8910811">
                <a:moveTo>
                  <a:pt x="0" y="0"/>
                </a:moveTo>
                <a:lnTo>
                  <a:pt x="8910811" y="0"/>
                </a:lnTo>
                <a:lnTo>
                  <a:pt x="8910811" y="2018696"/>
                </a:lnTo>
                <a:lnTo>
                  <a:pt x="0" y="20186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7719135" y="2332620"/>
            <a:ext cx="477709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 spc="-12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6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06059" y="2021244"/>
            <a:ext cx="12896719" cy="894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96"/>
              </a:lnSpc>
            </a:pPr>
            <a:r>
              <a:rPr lang="en-US" b="true" sz="7200" spc="-518">
                <a:solidFill>
                  <a:srgbClr val="21212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FIRST BREAK FREQUENCY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914372" y="1902122"/>
            <a:ext cx="1751694" cy="6482756"/>
            <a:chOff x="0" y="0"/>
            <a:chExt cx="461351" cy="17073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1351" cy="1707392"/>
            </a:xfrm>
            <a:custGeom>
              <a:avLst/>
              <a:gdLst/>
              <a:ahLst/>
              <a:cxnLst/>
              <a:rect r="r" b="b" t="t" l="l"/>
              <a:pathLst>
                <a:path h="1707392" w="461351">
                  <a:moveTo>
                    <a:pt x="154689" y="0"/>
                  </a:moveTo>
                  <a:lnTo>
                    <a:pt x="306663" y="0"/>
                  </a:lnTo>
                  <a:cubicBezTo>
                    <a:pt x="347689" y="0"/>
                    <a:pt x="387034" y="16298"/>
                    <a:pt x="416044" y="45307"/>
                  </a:cubicBezTo>
                  <a:cubicBezTo>
                    <a:pt x="445054" y="74317"/>
                    <a:pt x="461351" y="113663"/>
                    <a:pt x="461351" y="154689"/>
                  </a:cubicBezTo>
                  <a:lnTo>
                    <a:pt x="461351" y="1552704"/>
                  </a:lnTo>
                  <a:cubicBezTo>
                    <a:pt x="461351" y="1593730"/>
                    <a:pt x="445054" y="1633076"/>
                    <a:pt x="416044" y="1662085"/>
                  </a:cubicBezTo>
                  <a:cubicBezTo>
                    <a:pt x="387034" y="1691095"/>
                    <a:pt x="347689" y="1707392"/>
                    <a:pt x="306663" y="1707392"/>
                  </a:cubicBezTo>
                  <a:lnTo>
                    <a:pt x="154689" y="1707392"/>
                  </a:lnTo>
                  <a:cubicBezTo>
                    <a:pt x="113663" y="1707392"/>
                    <a:pt x="74317" y="1691095"/>
                    <a:pt x="45307" y="1662085"/>
                  </a:cubicBezTo>
                  <a:cubicBezTo>
                    <a:pt x="16298" y="1633076"/>
                    <a:pt x="0" y="1593730"/>
                    <a:pt x="0" y="1552704"/>
                  </a:cubicBezTo>
                  <a:lnTo>
                    <a:pt x="0" y="154689"/>
                  </a:lnTo>
                  <a:cubicBezTo>
                    <a:pt x="0" y="113663"/>
                    <a:pt x="16298" y="74317"/>
                    <a:pt x="45307" y="45307"/>
                  </a:cubicBezTo>
                  <a:cubicBezTo>
                    <a:pt x="74317" y="16298"/>
                    <a:pt x="113663" y="0"/>
                    <a:pt x="154689" y="0"/>
                  </a:cubicBez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1351" cy="17454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584419" y="1902122"/>
            <a:ext cx="1205800" cy="1205800"/>
            <a:chOff x="0" y="0"/>
            <a:chExt cx="317577" cy="31757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17577" cy="317577"/>
            </a:xfrm>
            <a:custGeom>
              <a:avLst/>
              <a:gdLst/>
              <a:ahLst/>
              <a:cxnLst/>
              <a:rect r="r" b="b" t="t" l="l"/>
              <a:pathLst>
                <a:path h="317577" w="317577">
                  <a:moveTo>
                    <a:pt x="158789" y="0"/>
                  </a:moveTo>
                  <a:lnTo>
                    <a:pt x="158789" y="0"/>
                  </a:lnTo>
                  <a:cubicBezTo>
                    <a:pt x="200902" y="0"/>
                    <a:pt x="241290" y="16729"/>
                    <a:pt x="271069" y="46508"/>
                  </a:cubicBezTo>
                  <a:cubicBezTo>
                    <a:pt x="300848" y="76287"/>
                    <a:pt x="317577" y="116675"/>
                    <a:pt x="317577" y="158789"/>
                  </a:cubicBezTo>
                  <a:lnTo>
                    <a:pt x="317577" y="158789"/>
                  </a:lnTo>
                  <a:cubicBezTo>
                    <a:pt x="317577" y="200902"/>
                    <a:pt x="300848" y="241290"/>
                    <a:pt x="271069" y="271069"/>
                  </a:cubicBezTo>
                  <a:cubicBezTo>
                    <a:pt x="241290" y="300848"/>
                    <a:pt x="200902" y="317577"/>
                    <a:pt x="158789" y="317577"/>
                  </a:cubicBezTo>
                  <a:lnTo>
                    <a:pt x="158789" y="317577"/>
                  </a:lnTo>
                  <a:cubicBezTo>
                    <a:pt x="116675" y="317577"/>
                    <a:pt x="76287" y="300848"/>
                    <a:pt x="46508" y="271069"/>
                  </a:cubicBezTo>
                  <a:cubicBezTo>
                    <a:pt x="16729" y="241290"/>
                    <a:pt x="0" y="200902"/>
                    <a:pt x="0" y="158789"/>
                  </a:cubicBezTo>
                  <a:lnTo>
                    <a:pt x="0" y="158789"/>
                  </a:lnTo>
                  <a:cubicBezTo>
                    <a:pt x="0" y="116675"/>
                    <a:pt x="16729" y="76287"/>
                    <a:pt x="46508" y="46508"/>
                  </a:cubicBezTo>
                  <a:cubicBezTo>
                    <a:pt x="76287" y="16729"/>
                    <a:pt x="116675" y="0"/>
                    <a:pt x="158789" y="0"/>
                  </a:cubicBezTo>
                  <a:close/>
                </a:path>
              </a:pathLst>
            </a:custGeom>
            <a:solidFill>
              <a:srgbClr val="21212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17577" cy="355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209843" y="-602900"/>
            <a:ext cx="4554972" cy="1205800"/>
            <a:chOff x="0" y="0"/>
            <a:chExt cx="1199663" cy="31757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99663" cy="317577"/>
            </a:xfrm>
            <a:custGeom>
              <a:avLst/>
              <a:gdLst/>
              <a:ahLst/>
              <a:cxnLst/>
              <a:rect r="r" b="b" t="t" l="l"/>
              <a:pathLst>
                <a:path h="317577" w="1199663">
                  <a:moveTo>
                    <a:pt x="86683" y="0"/>
                  </a:moveTo>
                  <a:lnTo>
                    <a:pt x="1112981" y="0"/>
                  </a:lnTo>
                  <a:cubicBezTo>
                    <a:pt x="1160854" y="0"/>
                    <a:pt x="1199663" y="38809"/>
                    <a:pt x="1199663" y="86683"/>
                  </a:cubicBezTo>
                  <a:lnTo>
                    <a:pt x="1199663" y="230894"/>
                  </a:lnTo>
                  <a:cubicBezTo>
                    <a:pt x="1199663" y="253884"/>
                    <a:pt x="1190531" y="275932"/>
                    <a:pt x="1174275" y="292188"/>
                  </a:cubicBezTo>
                  <a:cubicBezTo>
                    <a:pt x="1158018" y="308444"/>
                    <a:pt x="1135970" y="317577"/>
                    <a:pt x="1112981" y="317577"/>
                  </a:cubicBezTo>
                  <a:lnTo>
                    <a:pt x="86683" y="317577"/>
                  </a:lnTo>
                  <a:cubicBezTo>
                    <a:pt x="38809" y="317577"/>
                    <a:pt x="0" y="278768"/>
                    <a:pt x="0" y="230894"/>
                  </a:cubicBezTo>
                  <a:lnTo>
                    <a:pt x="0" y="86683"/>
                  </a:lnTo>
                  <a:cubicBezTo>
                    <a:pt x="0" y="38809"/>
                    <a:pt x="38809" y="0"/>
                    <a:pt x="86683" y="0"/>
                  </a:cubicBezTo>
                  <a:close/>
                </a:path>
              </a:pathLst>
            </a:custGeom>
            <a:solidFill>
              <a:srgbClr val="2449C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199663" cy="355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942871" y="9684100"/>
            <a:ext cx="4554972" cy="1205800"/>
            <a:chOff x="0" y="0"/>
            <a:chExt cx="1199663" cy="31757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99663" cy="317577"/>
            </a:xfrm>
            <a:custGeom>
              <a:avLst/>
              <a:gdLst/>
              <a:ahLst/>
              <a:cxnLst/>
              <a:rect r="r" b="b" t="t" l="l"/>
              <a:pathLst>
                <a:path h="317577" w="1199663">
                  <a:moveTo>
                    <a:pt x="86683" y="0"/>
                  </a:moveTo>
                  <a:lnTo>
                    <a:pt x="1112981" y="0"/>
                  </a:lnTo>
                  <a:cubicBezTo>
                    <a:pt x="1160854" y="0"/>
                    <a:pt x="1199663" y="38809"/>
                    <a:pt x="1199663" y="86683"/>
                  </a:cubicBezTo>
                  <a:lnTo>
                    <a:pt x="1199663" y="230894"/>
                  </a:lnTo>
                  <a:cubicBezTo>
                    <a:pt x="1199663" y="253884"/>
                    <a:pt x="1190531" y="275932"/>
                    <a:pt x="1174275" y="292188"/>
                  </a:cubicBezTo>
                  <a:cubicBezTo>
                    <a:pt x="1158018" y="308444"/>
                    <a:pt x="1135970" y="317577"/>
                    <a:pt x="1112981" y="317577"/>
                  </a:cubicBezTo>
                  <a:lnTo>
                    <a:pt x="86683" y="317577"/>
                  </a:lnTo>
                  <a:cubicBezTo>
                    <a:pt x="38809" y="317577"/>
                    <a:pt x="0" y="278768"/>
                    <a:pt x="0" y="230894"/>
                  </a:cubicBezTo>
                  <a:lnTo>
                    <a:pt x="0" y="86683"/>
                  </a:lnTo>
                  <a:cubicBezTo>
                    <a:pt x="0" y="38809"/>
                    <a:pt x="38809" y="0"/>
                    <a:pt x="86683" y="0"/>
                  </a:cubicBezTo>
                  <a:close/>
                </a:path>
              </a:pathLst>
            </a:custGeom>
            <a:solidFill>
              <a:srgbClr val="2449C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199663" cy="355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66110" y="3476191"/>
            <a:ext cx="9717783" cy="3875998"/>
            <a:chOff x="0" y="0"/>
            <a:chExt cx="1849331" cy="73761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49331" cy="737617"/>
            </a:xfrm>
            <a:custGeom>
              <a:avLst/>
              <a:gdLst/>
              <a:ahLst/>
              <a:cxnLst/>
              <a:rect r="r" b="b" t="t" l="l"/>
              <a:pathLst>
                <a:path h="737617" w="1849331">
                  <a:moveTo>
                    <a:pt x="18324" y="0"/>
                  </a:moveTo>
                  <a:lnTo>
                    <a:pt x="1831007" y="0"/>
                  </a:lnTo>
                  <a:cubicBezTo>
                    <a:pt x="1835867" y="0"/>
                    <a:pt x="1840528" y="1931"/>
                    <a:pt x="1843964" y="5367"/>
                  </a:cubicBezTo>
                  <a:cubicBezTo>
                    <a:pt x="1847400" y="8803"/>
                    <a:pt x="1849331" y="13464"/>
                    <a:pt x="1849331" y="18324"/>
                  </a:cubicBezTo>
                  <a:lnTo>
                    <a:pt x="1849331" y="719294"/>
                  </a:lnTo>
                  <a:cubicBezTo>
                    <a:pt x="1849331" y="724153"/>
                    <a:pt x="1847400" y="728814"/>
                    <a:pt x="1843964" y="732250"/>
                  </a:cubicBezTo>
                  <a:cubicBezTo>
                    <a:pt x="1840528" y="735687"/>
                    <a:pt x="1835867" y="737617"/>
                    <a:pt x="1831007" y="737617"/>
                  </a:cubicBezTo>
                  <a:lnTo>
                    <a:pt x="18324" y="737617"/>
                  </a:lnTo>
                  <a:cubicBezTo>
                    <a:pt x="13464" y="737617"/>
                    <a:pt x="8803" y="735687"/>
                    <a:pt x="5367" y="732250"/>
                  </a:cubicBezTo>
                  <a:cubicBezTo>
                    <a:pt x="1931" y="728814"/>
                    <a:pt x="0" y="724153"/>
                    <a:pt x="0" y="719294"/>
                  </a:cubicBezTo>
                  <a:lnTo>
                    <a:pt x="0" y="18324"/>
                  </a:lnTo>
                  <a:cubicBezTo>
                    <a:pt x="0" y="13464"/>
                    <a:pt x="1931" y="8803"/>
                    <a:pt x="5367" y="5367"/>
                  </a:cubicBezTo>
                  <a:cubicBezTo>
                    <a:pt x="8803" y="1931"/>
                    <a:pt x="13464" y="0"/>
                    <a:pt x="18324" y="0"/>
                  </a:cubicBezTo>
                  <a:close/>
                </a:path>
              </a:pathLst>
            </a:custGeom>
            <a:blipFill>
              <a:blip r:embed="rId2"/>
              <a:stretch>
                <a:fillRect l="-9725" t="0" r="-9725" b="0"/>
              </a:stretch>
            </a:blipFill>
            <a:ln w="9525" cap="rnd">
              <a:solidFill>
                <a:srgbClr val="212121"/>
              </a:solidFill>
              <a:prstDash val="solid"/>
              <a:round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734193" y="2270391"/>
            <a:ext cx="1205800" cy="1205800"/>
            <a:chOff x="0" y="0"/>
            <a:chExt cx="317577" cy="31757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17577" cy="317577"/>
            </a:xfrm>
            <a:custGeom>
              <a:avLst/>
              <a:gdLst/>
              <a:ahLst/>
              <a:cxnLst/>
              <a:rect r="r" b="b" t="t" l="l"/>
              <a:pathLst>
                <a:path h="317577" w="317577">
                  <a:moveTo>
                    <a:pt x="158789" y="0"/>
                  </a:moveTo>
                  <a:lnTo>
                    <a:pt x="158789" y="0"/>
                  </a:lnTo>
                  <a:cubicBezTo>
                    <a:pt x="200902" y="0"/>
                    <a:pt x="241290" y="16729"/>
                    <a:pt x="271069" y="46508"/>
                  </a:cubicBezTo>
                  <a:cubicBezTo>
                    <a:pt x="300848" y="76287"/>
                    <a:pt x="317577" y="116675"/>
                    <a:pt x="317577" y="158789"/>
                  </a:cubicBezTo>
                  <a:lnTo>
                    <a:pt x="317577" y="158789"/>
                  </a:lnTo>
                  <a:cubicBezTo>
                    <a:pt x="317577" y="200902"/>
                    <a:pt x="300848" y="241290"/>
                    <a:pt x="271069" y="271069"/>
                  </a:cubicBezTo>
                  <a:cubicBezTo>
                    <a:pt x="241290" y="300848"/>
                    <a:pt x="200902" y="317577"/>
                    <a:pt x="158789" y="317577"/>
                  </a:cubicBezTo>
                  <a:lnTo>
                    <a:pt x="158789" y="317577"/>
                  </a:lnTo>
                  <a:cubicBezTo>
                    <a:pt x="116675" y="317577"/>
                    <a:pt x="76287" y="300848"/>
                    <a:pt x="46508" y="271069"/>
                  </a:cubicBezTo>
                  <a:cubicBezTo>
                    <a:pt x="16729" y="241290"/>
                    <a:pt x="0" y="200902"/>
                    <a:pt x="0" y="158789"/>
                  </a:cubicBezTo>
                  <a:lnTo>
                    <a:pt x="0" y="158789"/>
                  </a:lnTo>
                  <a:cubicBezTo>
                    <a:pt x="0" y="116675"/>
                    <a:pt x="16729" y="76287"/>
                    <a:pt x="46508" y="46508"/>
                  </a:cubicBezTo>
                  <a:cubicBezTo>
                    <a:pt x="76287" y="16729"/>
                    <a:pt x="116675" y="0"/>
                    <a:pt x="158789" y="0"/>
                  </a:cubicBezTo>
                  <a:close/>
                </a:path>
              </a:pathLst>
            </a:custGeom>
            <a:solidFill>
              <a:srgbClr val="2449CC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17577" cy="355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976449" y="2512647"/>
            <a:ext cx="721288" cy="721288"/>
          </a:xfrm>
          <a:custGeom>
            <a:avLst/>
            <a:gdLst/>
            <a:ahLst/>
            <a:cxnLst/>
            <a:rect r="r" b="b" t="t" l="l"/>
            <a:pathLst>
              <a:path h="721288" w="721288">
                <a:moveTo>
                  <a:pt x="0" y="0"/>
                </a:moveTo>
                <a:lnTo>
                  <a:pt x="721288" y="0"/>
                </a:lnTo>
                <a:lnTo>
                  <a:pt x="721288" y="721288"/>
                </a:lnTo>
                <a:lnTo>
                  <a:pt x="0" y="7212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0617268" y="397714"/>
            <a:ext cx="6873738" cy="8860586"/>
            <a:chOff x="0" y="0"/>
            <a:chExt cx="1512428" cy="194959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12428" cy="1949594"/>
            </a:xfrm>
            <a:custGeom>
              <a:avLst/>
              <a:gdLst/>
              <a:ahLst/>
              <a:cxnLst/>
              <a:rect r="r" b="b" t="t" l="l"/>
              <a:pathLst>
                <a:path h="1949594" w="1512428">
                  <a:moveTo>
                    <a:pt x="25905" y="0"/>
                  </a:moveTo>
                  <a:lnTo>
                    <a:pt x="1486523" y="0"/>
                  </a:lnTo>
                  <a:cubicBezTo>
                    <a:pt x="1493394" y="0"/>
                    <a:pt x="1499983" y="2729"/>
                    <a:pt x="1504841" y="7587"/>
                  </a:cubicBezTo>
                  <a:cubicBezTo>
                    <a:pt x="1509699" y="12446"/>
                    <a:pt x="1512428" y="19035"/>
                    <a:pt x="1512428" y="25905"/>
                  </a:cubicBezTo>
                  <a:lnTo>
                    <a:pt x="1512428" y="1923689"/>
                  </a:lnTo>
                  <a:cubicBezTo>
                    <a:pt x="1512428" y="1930560"/>
                    <a:pt x="1509699" y="1937149"/>
                    <a:pt x="1504841" y="1942007"/>
                  </a:cubicBezTo>
                  <a:cubicBezTo>
                    <a:pt x="1499983" y="1946865"/>
                    <a:pt x="1493394" y="1949594"/>
                    <a:pt x="1486523" y="1949594"/>
                  </a:cubicBezTo>
                  <a:lnTo>
                    <a:pt x="25905" y="1949594"/>
                  </a:lnTo>
                  <a:cubicBezTo>
                    <a:pt x="19035" y="1949594"/>
                    <a:pt x="12446" y="1946865"/>
                    <a:pt x="7587" y="1942007"/>
                  </a:cubicBezTo>
                  <a:cubicBezTo>
                    <a:pt x="2729" y="1937149"/>
                    <a:pt x="0" y="1930560"/>
                    <a:pt x="0" y="1923689"/>
                  </a:cubicBezTo>
                  <a:lnTo>
                    <a:pt x="0" y="25905"/>
                  </a:lnTo>
                  <a:cubicBezTo>
                    <a:pt x="0" y="19035"/>
                    <a:pt x="2729" y="12446"/>
                    <a:pt x="7587" y="7587"/>
                  </a:cubicBezTo>
                  <a:cubicBezTo>
                    <a:pt x="12446" y="2729"/>
                    <a:pt x="19035" y="0"/>
                    <a:pt x="25905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292" r="0" b="-292"/>
              </a:stretch>
            </a:blipFill>
            <a:ln w="9525" cap="rnd">
              <a:solidFill>
                <a:srgbClr val="212121"/>
              </a:solidFill>
              <a:prstDash val="solid"/>
              <a:round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7719135" y="2332620"/>
            <a:ext cx="477709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 spc="-12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7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71218" y="1130978"/>
            <a:ext cx="6932028" cy="1742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96"/>
              </a:lnSpc>
            </a:pPr>
            <a:r>
              <a:rPr lang="en-US" b="true" sz="7200" spc="-518">
                <a:solidFill>
                  <a:srgbClr val="21212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OUTPUT SIDE ANALYSIS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914372" y="1902122"/>
            <a:ext cx="1751694" cy="6482756"/>
            <a:chOff x="0" y="0"/>
            <a:chExt cx="461351" cy="17073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1351" cy="1707392"/>
            </a:xfrm>
            <a:custGeom>
              <a:avLst/>
              <a:gdLst/>
              <a:ahLst/>
              <a:cxnLst/>
              <a:rect r="r" b="b" t="t" l="l"/>
              <a:pathLst>
                <a:path h="1707392" w="461351">
                  <a:moveTo>
                    <a:pt x="154689" y="0"/>
                  </a:moveTo>
                  <a:lnTo>
                    <a:pt x="306663" y="0"/>
                  </a:lnTo>
                  <a:cubicBezTo>
                    <a:pt x="347689" y="0"/>
                    <a:pt x="387034" y="16298"/>
                    <a:pt x="416044" y="45307"/>
                  </a:cubicBezTo>
                  <a:cubicBezTo>
                    <a:pt x="445054" y="74317"/>
                    <a:pt x="461351" y="113663"/>
                    <a:pt x="461351" y="154689"/>
                  </a:cubicBezTo>
                  <a:lnTo>
                    <a:pt x="461351" y="1552704"/>
                  </a:lnTo>
                  <a:cubicBezTo>
                    <a:pt x="461351" y="1593730"/>
                    <a:pt x="445054" y="1633076"/>
                    <a:pt x="416044" y="1662085"/>
                  </a:cubicBezTo>
                  <a:cubicBezTo>
                    <a:pt x="387034" y="1691095"/>
                    <a:pt x="347689" y="1707392"/>
                    <a:pt x="306663" y="1707392"/>
                  </a:cubicBezTo>
                  <a:lnTo>
                    <a:pt x="154689" y="1707392"/>
                  </a:lnTo>
                  <a:cubicBezTo>
                    <a:pt x="113663" y="1707392"/>
                    <a:pt x="74317" y="1691095"/>
                    <a:pt x="45307" y="1662085"/>
                  </a:cubicBezTo>
                  <a:cubicBezTo>
                    <a:pt x="16298" y="1633076"/>
                    <a:pt x="0" y="1593730"/>
                    <a:pt x="0" y="1552704"/>
                  </a:cubicBezTo>
                  <a:lnTo>
                    <a:pt x="0" y="154689"/>
                  </a:lnTo>
                  <a:cubicBezTo>
                    <a:pt x="0" y="113663"/>
                    <a:pt x="16298" y="74317"/>
                    <a:pt x="45307" y="45307"/>
                  </a:cubicBezTo>
                  <a:cubicBezTo>
                    <a:pt x="74317" y="16298"/>
                    <a:pt x="113663" y="0"/>
                    <a:pt x="154689" y="0"/>
                  </a:cubicBez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1351" cy="17454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584419" y="1902122"/>
            <a:ext cx="1205800" cy="1205800"/>
            <a:chOff x="0" y="0"/>
            <a:chExt cx="317577" cy="31757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17577" cy="317577"/>
            </a:xfrm>
            <a:custGeom>
              <a:avLst/>
              <a:gdLst/>
              <a:ahLst/>
              <a:cxnLst/>
              <a:rect r="r" b="b" t="t" l="l"/>
              <a:pathLst>
                <a:path h="317577" w="317577">
                  <a:moveTo>
                    <a:pt x="158789" y="0"/>
                  </a:moveTo>
                  <a:lnTo>
                    <a:pt x="158789" y="0"/>
                  </a:lnTo>
                  <a:cubicBezTo>
                    <a:pt x="200902" y="0"/>
                    <a:pt x="241290" y="16729"/>
                    <a:pt x="271069" y="46508"/>
                  </a:cubicBezTo>
                  <a:cubicBezTo>
                    <a:pt x="300848" y="76287"/>
                    <a:pt x="317577" y="116675"/>
                    <a:pt x="317577" y="158789"/>
                  </a:cubicBezTo>
                  <a:lnTo>
                    <a:pt x="317577" y="158789"/>
                  </a:lnTo>
                  <a:cubicBezTo>
                    <a:pt x="317577" y="200902"/>
                    <a:pt x="300848" y="241290"/>
                    <a:pt x="271069" y="271069"/>
                  </a:cubicBezTo>
                  <a:cubicBezTo>
                    <a:pt x="241290" y="300848"/>
                    <a:pt x="200902" y="317577"/>
                    <a:pt x="158789" y="317577"/>
                  </a:cubicBezTo>
                  <a:lnTo>
                    <a:pt x="158789" y="317577"/>
                  </a:lnTo>
                  <a:cubicBezTo>
                    <a:pt x="116675" y="317577"/>
                    <a:pt x="76287" y="300848"/>
                    <a:pt x="46508" y="271069"/>
                  </a:cubicBezTo>
                  <a:cubicBezTo>
                    <a:pt x="16729" y="241290"/>
                    <a:pt x="0" y="200902"/>
                    <a:pt x="0" y="158789"/>
                  </a:cubicBezTo>
                  <a:lnTo>
                    <a:pt x="0" y="158789"/>
                  </a:lnTo>
                  <a:cubicBezTo>
                    <a:pt x="0" y="116675"/>
                    <a:pt x="16729" y="76287"/>
                    <a:pt x="46508" y="46508"/>
                  </a:cubicBezTo>
                  <a:cubicBezTo>
                    <a:pt x="76287" y="16729"/>
                    <a:pt x="116675" y="0"/>
                    <a:pt x="158789" y="0"/>
                  </a:cubicBezTo>
                  <a:close/>
                </a:path>
              </a:pathLst>
            </a:custGeom>
            <a:solidFill>
              <a:srgbClr val="21212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17577" cy="355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209843" y="-602900"/>
            <a:ext cx="4554972" cy="1205800"/>
            <a:chOff x="0" y="0"/>
            <a:chExt cx="1199663" cy="31757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99663" cy="317577"/>
            </a:xfrm>
            <a:custGeom>
              <a:avLst/>
              <a:gdLst/>
              <a:ahLst/>
              <a:cxnLst/>
              <a:rect r="r" b="b" t="t" l="l"/>
              <a:pathLst>
                <a:path h="317577" w="1199663">
                  <a:moveTo>
                    <a:pt x="86683" y="0"/>
                  </a:moveTo>
                  <a:lnTo>
                    <a:pt x="1112981" y="0"/>
                  </a:lnTo>
                  <a:cubicBezTo>
                    <a:pt x="1160854" y="0"/>
                    <a:pt x="1199663" y="38809"/>
                    <a:pt x="1199663" y="86683"/>
                  </a:cubicBezTo>
                  <a:lnTo>
                    <a:pt x="1199663" y="230894"/>
                  </a:lnTo>
                  <a:cubicBezTo>
                    <a:pt x="1199663" y="253884"/>
                    <a:pt x="1190531" y="275932"/>
                    <a:pt x="1174275" y="292188"/>
                  </a:cubicBezTo>
                  <a:cubicBezTo>
                    <a:pt x="1158018" y="308444"/>
                    <a:pt x="1135970" y="317577"/>
                    <a:pt x="1112981" y="317577"/>
                  </a:cubicBezTo>
                  <a:lnTo>
                    <a:pt x="86683" y="317577"/>
                  </a:lnTo>
                  <a:cubicBezTo>
                    <a:pt x="38809" y="317577"/>
                    <a:pt x="0" y="278768"/>
                    <a:pt x="0" y="230894"/>
                  </a:cubicBezTo>
                  <a:lnTo>
                    <a:pt x="0" y="86683"/>
                  </a:lnTo>
                  <a:cubicBezTo>
                    <a:pt x="0" y="38809"/>
                    <a:pt x="38809" y="0"/>
                    <a:pt x="86683" y="0"/>
                  </a:cubicBezTo>
                  <a:close/>
                </a:path>
              </a:pathLst>
            </a:custGeom>
            <a:solidFill>
              <a:srgbClr val="2449C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199663" cy="355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942871" y="9684100"/>
            <a:ext cx="4554972" cy="1205800"/>
            <a:chOff x="0" y="0"/>
            <a:chExt cx="1199663" cy="31757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99663" cy="317577"/>
            </a:xfrm>
            <a:custGeom>
              <a:avLst/>
              <a:gdLst/>
              <a:ahLst/>
              <a:cxnLst/>
              <a:rect r="r" b="b" t="t" l="l"/>
              <a:pathLst>
                <a:path h="317577" w="1199663">
                  <a:moveTo>
                    <a:pt x="86683" y="0"/>
                  </a:moveTo>
                  <a:lnTo>
                    <a:pt x="1112981" y="0"/>
                  </a:lnTo>
                  <a:cubicBezTo>
                    <a:pt x="1160854" y="0"/>
                    <a:pt x="1199663" y="38809"/>
                    <a:pt x="1199663" y="86683"/>
                  </a:cubicBezTo>
                  <a:lnTo>
                    <a:pt x="1199663" y="230894"/>
                  </a:lnTo>
                  <a:cubicBezTo>
                    <a:pt x="1199663" y="253884"/>
                    <a:pt x="1190531" y="275932"/>
                    <a:pt x="1174275" y="292188"/>
                  </a:cubicBezTo>
                  <a:cubicBezTo>
                    <a:pt x="1158018" y="308444"/>
                    <a:pt x="1135970" y="317577"/>
                    <a:pt x="1112981" y="317577"/>
                  </a:cubicBezTo>
                  <a:lnTo>
                    <a:pt x="86683" y="317577"/>
                  </a:lnTo>
                  <a:cubicBezTo>
                    <a:pt x="38809" y="317577"/>
                    <a:pt x="0" y="278768"/>
                    <a:pt x="0" y="230894"/>
                  </a:cubicBezTo>
                  <a:lnTo>
                    <a:pt x="0" y="86683"/>
                  </a:lnTo>
                  <a:cubicBezTo>
                    <a:pt x="0" y="38809"/>
                    <a:pt x="38809" y="0"/>
                    <a:pt x="86683" y="0"/>
                  </a:cubicBezTo>
                  <a:close/>
                </a:path>
              </a:pathLst>
            </a:custGeom>
            <a:solidFill>
              <a:srgbClr val="2449C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199663" cy="355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01699" y="4146704"/>
            <a:ext cx="8477361" cy="4051959"/>
            <a:chOff x="0" y="0"/>
            <a:chExt cx="1391860" cy="6652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91860" cy="665273"/>
            </a:xfrm>
            <a:custGeom>
              <a:avLst/>
              <a:gdLst/>
              <a:ahLst/>
              <a:cxnLst/>
              <a:rect r="r" b="b" t="t" l="l"/>
              <a:pathLst>
                <a:path h="665273" w="1391860">
                  <a:moveTo>
                    <a:pt x="21005" y="0"/>
                  </a:moveTo>
                  <a:lnTo>
                    <a:pt x="1370855" y="0"/>
                  </a:lnTo>
                  <a:cubicBezTo>
                    <a:pt x="1382456" y="0"/>
                    <a:pt x="1391860" y="9404"/>
                    <a:pt x="1391860" y="21005"/>
                  </a:cubicBezTo>
                  <a:lnTo>
                    <a:pt x="1391860" y="644268"/>
                  </a:lnTo>
                  <a:cubicBezTo>
                    <a:pt x="1391860" y="655869"/>
                    <a:pt x="1382456" y="665273"/>
                    <a:pt x="1370855" y="665273"/>
                  </a:cubicBezTo>
                  <a:lnTo>
                    <a:pt x="21005" y="665273"/>
                  </a:lnTo>
                  <a:cubicBezTo>
                    <a:pt x="9404" y="665273"/>
                    <a:pt x="0" y="655869"/>
                    <a:pt x="0" y="644268"/>
                  </a:cubicBezTo>
                  <a:lnTo>
                    <a:pt x="0" y="21005"/>
                  </a:lnTo>
                  <a:cubicBezTo>
                    <a:pt x="0" y="9404"/>
                    <a:pt x="9404" y="0"/>
                    <a:pt x="21005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5310" r="0" b="-25310"/>
              </a:stretch>
            </a:blipFill>
            <a:ln w="9525" cap="rnd">
              <a:solidFill>
                <a:srgbClr val="212121"/>
              </a:solidFill>
              <a:prstDash val="solid"/>
              <a:round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9951994" y="4302735"/>
            <a:ext cx="7767140" cy="3895928"/>
            <a:chOff x="0" y="0"/>
            <a:chExt cx="1677213" cy="84127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77213" cy="841275"/>
            </a:xfrm>
            <a:custGeom>
              <a:avLst/>
              <a:gdLst/>
              <a:ahLst/>
              <a:cxnLst/>
              <a:rect r="r" b="b" t="t" l="l"/>
              <a:pathLst>
                <a:path h="841275" w="1677213">
                  <a:moveTo>
                    <a:pt x="22925" y="0"/>
                  </a:moveTo>
                  <a:lnTo>
                    <a:pt x="1654288" y="0"/>
                  </a:lnTo>
                  <a:cubicBezTo>
                    <a:pt x="1660368" y="0"/>
                    <a:pt x="1666199" y="2415"/>
                    <a:pt x="1670498" y="6715"/>
                  </a:cubicBezTo>
                  <a:cubicBezTo>
                    <a:pt x="1674798" y="11014"/>
                    <a:pt x="1677213" y="16845"/>
                    <a:pt x="1677213" y="22925"/>
                  </a:cubicBezTo>
                  <a:lnTo>
                    <a:pt x="1677213" y="818350"/>
                  </a:lnTo>
                  <a:cubicBezTo>
                    <a:pt x="1677213" y="824430"/>
                    <a:pt x="1674798" y="830261"/>
                    <a:pt x="1670498" y="834560"/>
                  </a:cubicBezTo>
                  <a:cubicBezTo>
                    <a:pt x="1666199" y="838860"/>
                    <a:pt x="1660368" y="841275"/>
                    <a:pt x="1654288" y="841275"/>
                  </a:cubicBezTo>
                  <a:lnTo>
                    <a:pt x="22925" y="841275"/>
                  </a:lnTo>
                  <a:cubicBezTo>
                    <a:pt x="16845" y="841275"/>
                    <a:pt x="11014" y="838860"/>
                    <a:pt x="6715" y="834560"/>
                  </a:cubicBezTo>
                  <a:cubicBezTo>
                    <a:pt x="2415" y="830261"/>
                    <a:pt x="0" y="824430"/>
                    <a:pt x="0" y="818350"/>
                  </a:cubicBezTo>
                  <a:lnTo>
                    <a:pt x="0" y="22925"/>
                  </a:lnTo>
                  <a:cubicBezTo>
                    <a:pt x="0" y="16845"/>
                    <a:pt x="2415" y="11014"/>
                    <a:pt x="6715" y="6715"/>
                  </a:cubicBezTo>
                  <a:cubicBezTo>
                    <a:pt x="11014" y="2415"/>
                    <a:pt x="16845" y="0"/>
                    <a:pt x="22925" y="0"/>
                  </a:cubicBezTo>
                  <a:close/>
                </a:path>
              </a:pathLst>
            </a:custGeom>
            <a:blipFill>
              <a:blip r:embed="rId3"/>
              <a:stretch>
                <a:fillRect l="-1182" t="0" r="-1182" b="0"/>
              </a:stretch>
            </a:blipFill>
            <a:ln w="9525" cap="rnd">
              <a:solidFill>
                <a:srgbClr val="212121"/>
              </a:solidFill>
              <a:prstDash val="solid"/>
              <a:round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7719135" y="2332620"/>
            <a:ext cx="477709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 spc="-12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8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79750" y="1604291"/>
            <a:ext cx="8899310" cy="1742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96"/>
              </a:lnSpc>
            </a:pPr>
            <a:r>
              <a:rPr lang="en-US" b="true" sz="7200" spc="-518">
                <a:solidFill>
                  <a:srgbClr val="21212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SECOND BREAK FREQUENCY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5404904" y="696322"/>
            <a:ext cx="1205800" cy="1205800"/>
            <a:chOff x="0" y="0"/>
            <a:chExt cx="317577" cy="31757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17577" cy="317577"/>
            </a:xfrm>
            <a:custGeom>
              <a:avLst/>
              <a:gdLst/>
              <a:ahLst/>
              <a:cxnLst/>
              <a:rect r="r" b="b" t="t" l="l"/>
              <a:pathLst>
                <a:path h="317577" w="317577">
                  <a:moveTo>
                    <a:pt x="158789" y="0"/>
                  </a:moveTo>
                  <a:lnTo>
                    <a:pt x="158789" y="0"/>
                  </a:lnTo>
                  <a:cubicBezTo>
                    <a:pt x="200902" y="0"/>
                    <a:pt x="241290" y="16729"/>
                    <a:pt x="271069" y="46508"/>
                  </a:cubicBezTo>
                  <a:cubicBezTo>
                    <a:pt x="300848" y="76287"/>
                    <a:pt x="317577" y="116675"/>
                    <a:pt x="317577" y="158789"/>
                  </a:cubicBezTo>
                  <a:lnTo>
                    <a:pt x="317577" y="158789"/>
                  </a:lnTo>
                  <a:cubicBezTo>
                    <a:pt x="317577" y="200902"/>
                    <a:pt x="300848" y="241290"/>
                    <a:pt x="271069" y="271069"/>
                  </a:cubicBezTo>
                  <a:cubicBezTo>
                    <a:pt x="241290" y="300848"/>
                    <a:pt x="200902" y="317577"/>
                    <a:pt x="158789" y="317577"/>
                  </a:cubicBezTo>
                  <a:lnTo>
                    <a:pt x="158789" y="317577"/>
                  </a:lnTo>
                  <a:cubicBezTo>
                    <a:pt x="116675" y="317577"/>
                    <a:pt x="76287" y="300848"/>
                    <a:pt x="46508" y="271069"/>
                  </a:cubicBezTo>
                  <a:cubicBezTo>
                    <a:pt x="16729" y="241290"/>
                    <a:pt x="0" y="200902"/>
                    <a:pt x="0" y="158789"/>
                  </a:cubicBezTo>
                  <a:lnTo>
                    <a:pt x="0" y="158789"/>
                  </a:lnTo>
                  <a:cubicBezTo>
                    <a:pt x="0" y="116675"/>
                    <a:pt x="16729" y="76287"/>
                    <a:pt x="46508" y="46508"/>
                  </a:cubicBezTo>
                  <a:cubicBezTo>
                    <a:pt x="76287" y="16729"/>
                    <a:pt x="116675" y="0"/>
                    <a:pt x="158789" y="0"/>
                  </a:cubicBezTo>
                  <a:close/>
                </a:path>
              </a:pathLst>
            </a:custGeom>
            <a:solidFill>
              <a:srgbClr val="2449CC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317577" cy="355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5647160" y="938578"/>
            <a:ext cx="721288" cy="721288"/>
          </a:xfrm>
          <a:custGeom>
            <a:avLst/>
            <a:gdLst/>
            <a:ahLst/>
            <a:cxnLst/>
            <a:rect r="r" b="b" t="t" l="l"/>
            <a:pathLst>
              <a:path h="721288" w="721288">
                <a:moveTo>
                  <a:pt x="0" y="0"/>
                </a:moveTo>
                <a:lnTo>
                  <a:pt x="721288" y="0"/>
                </a:lnTo>
                <a:lnTo>
                  <a:pt x="721288" y="721288"/>
                </a:lnTo>
                <a:lnTo>
                  <a:pt x="0" y="7212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914372" y="1902122"/>
            <a:ext cx="1751694" cy="6482756"/>
            <a:chOff x="0" y="0"/>
            <a:chExt cx="461351" cy="17073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1351" cy="1707392"/>
            </a:xfrm>
            <a:custGeom>
              <a:avLst/>
              <a:gdLst/>
              <a:ahLst/>
              <a:cxnLst/>
              <a:rect r="r" b="b" t="t" l="l"/>
              <a:pathLst>
                <a:path h="1707392" w="461351">
                  <a:moveTo>
                    <a:pt x="154689" y="0"/>
                  </a:moveTo>
                  <a:lnTo>
                    <a:pt x="306663" y="0"/>
                  </a:lnTo>
                  <a:cubicBezTo>
                    <a:pt x="347689" y="0"/>
                    <a:pt x="387034" y="16298"/>
                    <a:pt x="416044" y="45307"/>
                  </a:cubicBezTo>
                  <a:cubicBezTo>
                    <a:pt x="445054" y="74317"/>
                    <a:pt x="461351" y="113663"/>
                    <a:pt x="461351" y="154689"/>
                  </a:cubicBezTo>
                  <a:lnTo>
                    <a:pt x="461351" y="1552704"/>
                  </a:lnTo>
                  <a:cubicBezTo>
                    <a:pt x="461351" y="1593730"/>
                    <a:pt x="445054" y="1633076"/>
                    <a:pt x="416044" y="1662085"/>
                  </a:cubicBezTo>
                  <a:cubicBezTo>
                    <a:pt x="387034" y="1691095"/>
                    <a:pt x="347689" y="1707392"/>
                    <a:pt x="306663" y="1707392"/>
                  </a:cubicBezTo>
                  <a:lnTo>
                    <a:pt x="154689" y="1707392"/>
                  </a:lnTo>
                  <a:cubicBezTo>
                    <a:pt x="113663" y="1707392"/>
                    <a:pt x="74317" y="1691095"/>
                    <a:pt x="45307" y="1662085"/>
                  </a:cubicBezTo>
                  <a:cubicBezTo>
                    <a:pt x="16298" y="1633076"/>
                    <a:pt x="0" y="1593730"/>
                    <a:pt x="0" y="1552704"/>
                  </a:cubicBezTo>
                  <a:lnTo>
                    <a:pt x="0" y="154689"/>
                  </a:lnTo>
                  <a:cubicBezTo>
                    <a:pt x="0" y="113663"/>
                    <a:pt x="16298" y="74317"/>
                    <a:pt x="45307" y="45307"/>
                  </a:cubicBezTo>
                  <a:cubicBezTo>
                    <a:pt x="74317" y="16298"/>
                    <a:pt x="113663" y="0"/>
                    <a:pt x="154689" y="0"/>
                  </a:cubicBez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1351" cy="17454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584419" y="1902122"/>
            <a:ext cx="1205800" cy="1205800"/>
            <a:chOff x="0" y="0"/>
            <a:chExt cx="317577" cy="31757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17577" cy="317577"/>
            </a:xfrm>
            <a:custGeom>
              <a:avLst/>
              <a:gdLst/>
              <a:ahLst/>
              <a:cxnLst/>
              <a:rect r="r" b="b" t="t" l="l"/>
              <a:pathLst>
                <a:path h="317577" w="317577">
                  <a:moveTo>
                    <a:pt x="158789" y="0"/>
                  </a:moveTo>
                  <a:lnTo>
                    <a:pt x="158789" y="0"/>
                  </a:lnTo>
                  <a:cubicBezTo>
                    <a:pt x="200902" y="0"/>
                    <a:pt x="241290" y="16729"/>
                    <a:pt x="271069" y="46508"/>
                  </a:cubicBezTo>
                  <a:cubicBezTo>
                    <a:pt x="300848" y="76287"/>
                    <a:pt x="317577" y="116675"/>
                    <a:pt x="317577" y="158789"/>
                  </a:cubicBezTo>
                  <a:lnTo>
                    <a:pt x="317577" y="158789"/>
                  </a:lnTo>
                  <a:cubicBezTo>
                    <a:pt x="317577" y="200902"/>
                    <a:pt x="300848" y="241290"/>
                    <a:pt x="271069" y="271069"/>
                  </a:cubicBezTo>
                  <a:cubicBezTo>
                    <a:pt x="241290" y="300848"/>
                    <a:pt x="200902" y="317577"/>
                    <a:pt x="158789" y="317577"/>
                  </a:cubicBezTo>
                  <a:lnTo>
                    <a:pt x="158789" y="317577"/>
                  </a:lnTo>
                  <a:cubicBezTo>
                    <a:pt x="116675" y="317577"/>
                    <a:pt x="76287" y="300848"/>
                    <a:pt x="46508" y="271069"/>
                  </a:cubicBezTo>
                  <a:cubicBezTo>
                    <a:pt x="16729" y="241290"/>
                    <a:pt x="0" y="200902"/>
                    <a:pt x="0" y="158789"/>
                  </a:cubicBezTo>
                  <a:lnTo>
                    <a:pt x="0" y="158789"/>
                  </a:lnTo>
                  <a:cubicBezTo>
                    <a:pt x="0" y="116675"/>
                    <a:pt x="16729" y="76287"/>
                    <a:pt x="46508" y="46508"/>
                  </a:cubicBezTo>
                  <a:cubicBezTo>
                    <a:pt x="76287" y="16729"/>
                    <a:pt x="116675" y="0"/>
                    <a:pt x="158789" y="0"/>
                  </a:cubicBezTo>
                  <a:close/>
                </a:path>
              </a:pathLst>
            </a:custGeom>
            <a:solidFill>
              <a:srgbClr val="21212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17577" cy="355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209843" y="-602900"/>
            <a:ext cx="4554972" cy="1205800"/>
            <a:chOff x="0" y="0"/>
            <a:chExt cx="1199663" cy="31757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99663" cy="317577"/>
            </a:xfrm>
            <a:custGeom>
              <a:avLst/>
              <a:gdLst/>
              <a:ahLst/>
              <a:cxnLst/>
              <a:rect r="r" b="b" t="t" l="l"/>
              <a:pathLst>
                <a:path h="317577" w="1199663">
                  <a:moveTo>
                    <a:pt x="86683" y="0"/>
                  </a:moveTo>
                  <a:lnTo>
                    <a:pt x="1112981" y="0"/>
                  </a:lnTo>
                  <a:cubicBezTo>
                    <a:pt x="1160854" y="0"/>
                    <a:pt x="1199663" y="38809"/>
                    <a:pt x="1199663" y="86683"/>
                  </a:cubicBezTo>
                  <a:lnTo>
                    <a:pt x="1199663" y="230894"/>
                  </a:lnTo>
                  <a:cubicBezTo>
                    <a:pt x="1199663" y="253884"/>
                    <a:pt x="1190531" y="275932"/>
                    <a:pt x="1174275" y="292188"/>
                  </a:cubicBezTo>
                  <a:cubicBezTo>
                    <a:pt x="1158018" y="308444"/>
                    <a:pt x="1135970" y="317577"/>
                    <a:pt x="1112981" y="317577"/>
                  </a:cubicBezTo>
                  <a:lnTo>
                    <a:pt x="86683" y="317577"/>
                  </a:lnTo>
                  <a:cubicBezTo>
                    <a:pt x="38809" y="317577"/>
                    <a:pt x="0" y="278768"/>
                    <a:pt x="0" y="230894"/>
                  </a:cubicBezTo>
                  <a:lnTo>
                    <a:pt x="0" y="86683"/>
                  </a:lnTo>
                  <a:cubicBezTo>
                    <a:pt x="0" y="38809"/>
                    <a:pt x="38809" y="0"/>
                    <a:pt x="86683" y="0"/>
                  </a:cubicBezTo>
                  <a:close/>
                </a:path>
              </a:pathLst>
            </a:custGeom>
            <a:solidFill>
              <a:srgbClr val="2449C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199663" cy="355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942871" y="9684100"/>
            <a:ext cx="4554972" cy="1205800"/>
            <a:chOff x="0" y="0"/>
            <a:chExt cx="1199663" cy="31757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99663" cy="317577"/>
            </a:xfrm>
            <a:custGeom>
              <a:avLst/>
              <a:gdLst/>
              <a:ahLst/>
              <a:cxnLst/>
              <a:rect r="r" b="b" t="t" l="l"/>
              <a:pathLst>
                <a:path h="317577" w="1199663">
                  <a:moveTo>
                    <a:pt x="86683" y="0"/>
                  </a:moveTo>
                  <a:lnTo>
                    <a:pt x="1112981" y="0"/>
                  </a:lnTo>
                  <a:cubicBezTo>
                    <a:pt x="1160854" y="0"/>
                    <a:pt x="1199663" y="38809"/>
                    <a:pt x="1199663" y="86683"/>
                  </a:cubicBezTo>
                  <a:lnTo>
                    <a:pt x="1199663" y="230894"/>
                  </a:lnTo>
                  <a:cubicBezTo>
                    <a:pt x="1199663" y="253884"/>
                    <a:pt x="1190531" y="275932"/>
                    <a:pt x="1174275" y="292188"/>
                  </a:cubicBezTo>
                  <a:cubicBezTo>
                    <a:pt x="1158018" y="308444"/>
                    <a:pt x="1135970" y="317577"/>
                    <a:pt x="1112981" y="317577"/>
                  </a:cubicBezTo>
                  <a:lnTo>
                    <a:pt x="86683" y="317577"/>
                  </a:lnTo>
                  <a:cubicBezTo>
                    <a:pt x="38809" y="317577"/>
                    <a:pt x="0" y="278768"/>
                    <a:pt x="0" y="230894"/>
                  </a:cubicBezTo>
                  <a:lnTo>
                    <a:pt x="0" y="86683"/>
                  </a:lnTo>
                  <a:cubicBezTo>
                    <a:pt x="0" y="38809"/>
                    <a:pt x="38809" y="0"/>
                    <a:pt x="86683" y="0"/>
                  </a:cubicBezTo>
                  <a:close/>
                </a:path>
              </a:pathLst>
            </a:custGeom>
            <a:solidFill>
              <a:srgbClr val="2449C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199663" cy="355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404904" y="696322"/>
            <a:ext cx="1205800" cy="1205800"/>
            <a:chOff x="0" y="0"/>
            <a:chExt cx="317577" cy="31757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17577" cy="317577"/>
            </a:xfrm>
            <a:custGeom>
              <a:avLst/>
              <a:gdLst/>
              <a:ahLst/>
              <a:cxnLst/>
              <a:rect r="r" b="b" t="t" l="l"/>
              <a:pathLst>
                <a:path h="317577" w="317577">
                  <a:moveTo>
                    <a:pt x="158789" y="0"/>
                  </a:moveTo>
                  <a:lnTo>
                    <a:pt x="158789" y="0"/>
                  </a:lnTo>
                  <a:cubicBezTo>
                    <a:pt x="200902" y="0"/>
                    <a:pt x="241290" y="16729"/>
                    <a:pt x="271069" y="46508"/>
                  </a:cubicBezTo>
                  <a:cubicBezTo>
                    <a:pt x="300848" y="76287"/>
                    <a:pt x="317577" y="116675"/>
                    <a:pt x="317577" y="158789"/>
                  </a:cubicBezTo>
                  <a:lnTo>
                    <a:pt x="317577" y="158789"/>
                  </a:lnTo>
                  <a:cubicBezTo>
                    <a:pt x="317577" y="200902"/>
                    <a:pt x="300848" y="241290"/>
                    <a:pt x="271069" y="271069"/>
                  </a:cubicBezTo>
                  <a:cubicBezTo>
                    <a:pt x="241290" y="300848"/>
                    <a:pt x="200902" y="317577"/>
                    <a:pt x="158789" y="317577"/>
                  </a:cubicBezTo>
                  <a:lnTo>
                    <a:pt x="158789" y="317577"/>
                  </a:lnTo>
                  <a:cubicBezTo>
                    <a:pt x="116675" y="317577"/>
                    <a:pt x="76287" y="300848"/>
                    <a:pt x="46508" y="271069"/>
                  </a:cubicBezTo>
                  <a:cubicBezTo>
                    <a:pt x="16729" y="241290"/>
                    <a:pt x="0" y="200902"/>
                    <a:pt x="0" y="158789"/>
                  </a:cubicBezTo>
                  <a:lnTo>
                    <a:pt x="0" y="158789"/>
                  </a:lnTo>
                  <a:cubicBezTo>
                    <a:pt x="0" y="116675"/>
                    <a:pt x="16729" y="76287"/>
                    <a:pt x="46508" y="46508"/>
                  </a:cubicBezTo>
                  <a:cubicBezTo>
                    <a:pt x="76287" y="16729"/>
                    <a:pt x="116675" y="0"/>
                    <a:pt x="158789" y="0"/>
                  </a:cubicBezTo>
                  <a:close/>
                </a:path>
              </a:pathLst>
            </a:custGeom>
            <a:solidFill>
              <a:srgbClr val="2449CC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17577" cy="355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5647160" y="938578"/>
            <a:ext cx="721288" cy="721288"/>
          </a:xfrm>
          <a:custGeom>
            <a:avLst/>
            <a:gdLst/>
            <a:ahLst/>
            <a:cxnLst/>
            <a:rect r="r" b="b" t="t" l="l"/>
            <a:pathLst>
              <a:path h="721288" w="721288">
                <a:moveTo>
                  <a:pt x="0" y="0"/>
                </a:moveTo>
                <a:lnTo>
                  <a:pt x="721288" y="0"/>
                </a:lnTo>
                <a:lnTo>
                  <a:pt x="721288" y="721288"/>
                </a:lnTo>
                <a:lnTo>
                  <a:pt x="0" y="7212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438460" y="3957841"/>
            <a:ext cx="9577378" cy="5020324"/>
            <a:chOff x="0" y="0"/>
            <a:chExt cx="2522437" cy="132222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22437" cy="1322225"/>
            </a:xfrm>
            <a:custGeom>
              <a:avLst/>
              <a:gdLst/>
              <a:ahLst/>
              <a:cxnLst/>
              <a:rect r="r" b="b" t="t" l="l"/>
              <a:pathLst>
                <a:path h="1322225" w="2522437">
                  <a:moveTo>
                    <a:pt x="41226" y="0"/>
                  </a:moveTo>
                  <a:lnTo>
                    <a:pt x="2481211" y="0"/>
                  </a:lnTo>
                  <a:cubicBezTo>
                    <a:pt x="2503979" y="0"/>
                    <a:pt x="2522437" y="18458"/>
                    <a:pt x="2522437" y="41226"/>
                  </a:cubicBezTo>
                  <a:lnTo>
                    <a:pt x="2522437" y="1280999"/>
                  </a:lnTo>
                  <a:cubicBezTo>
                    <a:pt x="2522437" y="1303768"/>
                    <a:pt x="2503979" y="1322225"/>
                    <a:pt x="2481211" y="1322225"/>
                  </a:cubicBezTo>
                  <a:lnTo>
                    <a:pt x="41226" y="1322225"/>
                  </a:lnTo>
                  <a:cubicBezTo>
                    <a:pt x="18458" y="1322225"/>
                    <a:pt x="0" y="1303768"/>
                    <a:pt x="0" y="1280999"/>
                  </a:cubicBezTo>
                  <a:lnTo>
                    <a:pt x="0" y="41226"/>
                  </a:lnTo>
                  <a:cubicBezTo>
                    <a:pt x="0" y="18458"/>
                    <a:pt x="18458" y="0"/>
                    <a:pt x="41226" y="0"/>
                  </a:cubicBezTo>
                  <a:close/>
                </a:path>
              </a:pathLst>
            </a:custGeom>
            <a:solidFill>
              <a:srgbClr val="2449CC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522437" cy="1360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54752" y="4335780"/>
            <a:ext cx="8913128" cy="4260244"/>
            <a:chOff x="0" y="0"/>
            <a:chExt cx="1391860" cy="66527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91860" cy="665273"/>
            </a:xfrm>
            <a:custGeom>
              <a:avLst/>
              <a:gdLst/>
              <a:ahLst/>
              <a:cxnLst/>
              <a:rect r="r" b="b" t="t" l="l"/>
              <a:pathLst>
                <a:path h="665273" w="1391860">
                  <a:moveTo>
                    <a:pt x="19978" y="0"/>
                  </a:moveTo>
                  <a:lnTo>
                    <a:pt x="1371882" y="0"/>
                  </a:lnTo>
                  <a:cubicBezTo>
                    <a:pt x="1377180" y="0"/>
                    <a:pt x="1382262" y="2105"/>
                    <a:pt x="1386008" y="5851"/>
                  </a:cubicBezTo>
                  <a:cubicBezTo>
                    <a:pt x="1389755" y="9598"/>
                    <a:pt x="1391860" y="14679"/>
                    <a:pt x="1391860" y="19978"/>
                  </a:cubicBezTo>
                  <a:lnTo>
                    <a:pt x="1391860" y="645295"/>
                  </a:lnTo>
                  <a:cubicBezTo>
                    <a:pt x="1391860" y="650594"/>
                    <a:pt x="1389755" y="655675"/>
                    <a:pt x="1386008" y="659422"/>
                  </a:cubicBezTo>
                  <a:cubicBezTo>
                    <a:pt x="1382262" y="663168"/>
                    <a:pt x="1377180" y="665273"/>
                    <a:pt x="1371882" y="665273"/>
                  </a:cubicBezTo>
                  <a:lnTo>
                    <a:pt x="19978" y="665273"/>
                  </a:lnTo>
                  <a:cubicBezTo>
                    <a:pt x="14679" y="665273"/>
                    <a:pt x="9598" y="663168"/>
                    <a:pt x="5851" y="659422"/>
                  </a:cubicBezTo>
                  <a:cubicBezTo>
                    <a:pt x="2105" y="655675"/>
                    <a:pt x="0" y="650594"/>
                    <a:pt x="0" y="645295"/>
                  </a:cubicBezTo>
                  <a:lnTo>
                    <a:pt x="0" y="19978"/>
                  </a:lnTo>
                  <a:cubicBezTo>
                    <a:pt x="0" y="14679"/>
                    <a:pt x="2105" y="9598"/>
                    <a:pt x="5851" y="5851"/>
                  </a:cubicBezTo>
                  <a:cubicBezTo>
                    <a:pt x="9598" y="2105"/>
                    <a:pt x="14679" y="0"/>
                    <a:pt x="19978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1703" r="0" b="-11703"/>
              </a:stretch>
            </a:blipFill>
            <a:ln w="9525" cap="rnd">
              <a:solidFill>
                <a:srgbClr val="212121"/>
              </a:solidFill>
              <a:prstDash val="solid"/>
              <a:round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-120885" y="1177438"/>
            <a:ext cx="9509315" cy="1742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96"/>
              </a:lnSpc>
            </a:pPr>
            <a:r>
              <a:rPr lang="en-US" b="true" sz="7200" spc="-518">
                <a:solidFill>
                  <a:srgbClr val="21212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OVERALL TRANSFER FUCTION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893334" y="2082683"/>
            <a:ext cx="8365966" cy="4385320"/>
            <a:chOff x="0" y="0"/>
            <a:chExt cx="2522437" cy="132222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522437" cy="1322225"/>
            </a:xfrm>
            <a:custGeom>
              <a:avLst/>
              <a:gdLst/>
              <a:ahLst/>
              <a:cxnLst/>
              <a:rect r="r" b="b" t="t" l="l"/>
              <a:pathLst>
                <a:path h="1322225" w="2522437">
                  <a:moveTo>
                    <a:pt x="47196" y="0"/>
                  </a:moveTo>
                  <a:lnTo>
                    <a:pt x="2475241" y="0"/>
                  </a:lnTo>
                  <a:cubicBezTo>
                    <a:pt x="2501307" y="0"/>
                    <a:pt x="2522437" y="21130"/>
                    <a:pt x="2522437" y="47196"/>
                  </a:cubicBezTo>
                  <a:lnTo>
                    <a:pt x="2522437" y="1275030"/>
                  </a:lnTo>
                  <a:cubicBezTo>
                    <a:pt x="2522437" y="1301095"/>
                    <a:pt x="2501307" y="1322225"/>
                    <a:pt x="2475241" y="1322225"/>
                  </a:cubicBezTo>
                  <a:lnTo>
                    <a:pt x="47196" y="1322225"/>
                  </a:lnTo>
                  <a:cubicBezTo>
                    <a:pt x="21130" y="1322225"/>
                    <a:pt x="0" y="1301095"/>
                    <a:pt x="0" y="1275030"/>
                  </a:cubicBezTo>
                  <a:lnTo>
                    <a:pt x="0" y="47196"/>
                  </a:lnTo>
                  <a:cubicBezTo>
                    <a:pt x="0" y="21130"/>
                    <a:pt x="21130" y="0"/>
                    <a:pt x="47196" y="0"/>
                  </a:cubicBezTo>
                  <a:close/>
                </a:path>
              </a:pathLst>
            </a:custGeom>
            <a:solidFill>
              <a:srgbClr val="2449CC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522437" cy="1360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169619" y="2412818"/>
            <a:ext cx="7785735" cy="3721380"/>
            <a:chOff x="0" y="0"/>
            <a:chExt cx="1391860" cy="66527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91860" cy="665273"/>
            </a:xfrm>
            <a:custGeom>
              <a:avLst/>
              <a:gdLst/>
              <a:ahLst/>
              <a:cxnLst/>
              <a:rect r="r" b="b" t="t" l="l"/>
              <a:pathLst>
                <a:path h="665273" w="1391860">
                  <a:moveTo>
                    <a:pt x="22871" y="0"/>
                  </a:moveTo>
                  <a:lnTo>
                    <a:pt x="1368989" y="0"/>
                  </a:lnTo>
                  <a:cubicBezTo>
                    <a:pt x="1375055" y="0"/>
                    <a:pt x="1380872" y="2410"/>
                    <a:pt x="1385161" y="6699"/>
                  </a:cubicBezTo>
                  <a:cubicBezTo>
                    <a:pt x="1389450" y="10988"/>
                    <a:pt x="1391860" y="16805"/>
                    <a:pt x="1391860" y="22871"/>
                  </a:cubicBezTo>
                  <a:lnTo>
                    <a:pt x="1391860" y="642402"/>
                  </a:lnTo>
                  <a:cubicBezTo>
                    <a:pt x="1391860" y="648468"/>
                    <a:pt x="1389450" y="654285"/>
                    <a:pt x="1385161" y="658574"/>
                  </a:cubicBezTo>
                  <a:cubicBezTo>
                    <a:pt x="1380872" y="662863"/>
                    <a:pt x="1375055" y="665273"/>
                    <a:pt x="1368989" y="665273"/>
                  </a:cubicBezTo>
                  <a:lnTo>
                    <a:pt x="22871" y="665273"/>
                  </a:lnTo>
                  <a:cubicBezTo>
                    <a:pt x="16805" y="665273"/>
                    <a:pt x="10988" y="662863"/>
                    <a:pt x="6699" y="658574"/>
                  </a:cubicBezTo>
                  <a:cubicBezTo>
                    <a:pt x="2410" y="654285"/>
                    <a:pt x="0" y="648468"/>
                    <a:pt x="0" y="642402"/>
                  </a:cubicBezTo>
                  <a:lnTo>
                    <a:pt x="0" y="22871"/>
                  </a:lnTo>
                  <a:cubicBezTo>
                    <a:pt x="0" y="16805"/>
                    <a:pt x="2410" y="10988"/>
                    <a:pt x="6699" y="6699"/>
                  </a:cubicBezTo>
                  <a:cubicBezTo>
                    <a:pt x="10988" y="2410"/>
                    <a:pt x="16805" y="0"/>
                    <a:pt x="22871" y="0"/>
                  </a:cubicBezTo>
                  <a:close/>
                </a:path>
              </a:pathLst>
            </a:custGeom>
            <a:blipFill>
              <a:blip r:embed="rId5"/>
              <a:stretch>
                <a:fillRect l="-631" t="0" r="-631" b="0"/>
              </a:stretch>
            </a:blipFill>
            <a:ln w="9525" cap="rnd">
              <a:solidFill>
                <a:srgbClr val="212121"/>
              </a:solidFill>
              <a:prstDash val="solid"/>
              <a:round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17719135" y="2332620"/>
            <a:ext cx="477709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 spc="-12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914372" y="1902122"/>
            <a:ext cx="1751694" cy="6482756"/>
            <a:chOff x="0" y="0"/>
            <a:chExt cx="461351" cy="17073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1351" cy="1707392"/>
            </a:xfrm>
            <a:custGeom>
              <a:avLst/>
              <a:gdLst/>
              <a:ahLst/>
              <a:cxnLst/>
              <a:rect r="r" b="b" t="t" l="l"/>
              <a:pathLst>
                <a:path h="1707392" w="461351">
                  <a:moveTo>
                    <a:pt x="154689" y="0"/>
                  </a:moveTo>
                  <a:lnTo>
                    <a:pt x="306663" y="0"/>
                  </a:lnTo>
                  <a:cubicBezTo>
                    <a:pt x="347689" y="0"/>
                    <a:pt x="387034" y="16298"/>
                    <a:pt x="416044" y="45307"/>
                  </a:cubicBezTo>
                  <a:cubicBezTo>
                    <a:pt x="445054" y="74317"/>
                    <a:pt x="461351" y="113663"/>
                    <a:pt x="461351" y="154689"/>
                  </a:cubicBezTo>
                  <a:lnTo>
                    <a:pt x="461351" y="1552704"/>
                  </a:lnTo>
                  <a:cubicBezTo>
                    <a:pt x="461351" y="1593730"/>
                    <a:pt x="445054" y="1633076"/>
                    <a:pt x="416044" y="1662085"/>
                  </a:cubicBezTo>
                  <a:cubicBezTo>
                    <a:pt x="387034" y="1691095"/>
                    <a:pt x="347689" y="1707392"/>
                    <a:pt x="306663" y="1707392"/>
                  </a:cubicBezTo>
                  <a:lnTo>
                    <a:pt x="154689" y="1707392"/>
                  </a:lnTo>
                  <a:cubicBezTo>
                    <a:pt x="113663" y="1707392"/>
                    <a:pt x="74317" y="1691095"/>
                    <a:pt x="45307" y="1662085"/>
                  </a:cubicBezTo>
                  <a:cubicBezTo>
                    <a:pt x="16298" y="1633076"/>
                    <a:pt x="0" y="1593730"/>
                    <a:pt x="0" y="1552704"/>
                  </a:cubicBezTo>
                  <a:lnTo>
                    <a:pt x="0" y="154689"/>
                  </a:lnTo>
                  <a:cubicBezTo>
                    <a:pt x="0" y="113663"/>
                    <a:pt x="16298" y="74317"/>
                    <a:pt x="45307" y="45307"/>
                  </a:cubicBezTo>
                  <a:cubicBezTo>
                    <a:pt x="74317" y="16298"/>
                    <a:pt x="113663" y="0"/>
                    <a:pt x="154689" y="0"/>
                  </a:cubicBez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1351" cy="17454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584419" y="1902122"/>
            <a:ext cx="1205800" cy="1205800"/>
            <a:chOff x="0" y="0"/>
            <a:chExt cx="317577" cy="31757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17577" cy="317577"/>
            </a:xfrm>
            <a:custGeom>
              <a:avLst/>
              <a:gdLst/>
              <a:ahLst/>
              <a:cxnLst/>
              <a:rect r="r" b="b" t="t" l="l"/>
              <a:pathLst>
                <a:path h="317577" w="317577">
                  <a:moveTo>
                    <a:pt x="158789" y="0"/>
                  </a:moveTo>
                  <a:lnTo>
                    <a:pt x="158789" y="0"/>
                  </a:lnTo>
                  <a:cubicBezTo>
                    <a:pt x="200902" y="0"/>
                    <a:pt x="241290" y="16729"/>
                    <a:pt x="271069" y="46508"/>
                  </a:cubicBezTo>
                  <a:cubicBezTo>
                    <a:pt x="300848" y="76287"/>
                    <a:pt x="317577" y="116675"/>
                    <a:pt x="317577" y="158789"/>
                  </a:cubicBezTo>
                  <a:lnTo>
                    <a:pt x="317577" y="158789"/>
                  </a:lnTo>
                  <a:cubicBezTo>
                    <a:pt x="317577" y="200902"/>
                    <a:pt x="300848" y="241290"/>
                    <a:pt x="271069" y="271069"/>
                  </a:cubicBezTo>
                  <a:cubicBezTo>
                    <a:pt x="241290" y="300848"/>
                    <a:pt x="200902" y="317577"/>
                    <a:pt x="158789" y="317577"/>
                  </a:cubicBezTo>
                  <a:lnTo>
                    <a:pt x="158789" y="317577"/>
                  </a:lnTo>
                  <a:cubicBezTo>
                    <a:pt x="116675" y="317577"/>
                    <a:pt x="76287" y="300848"/>
                    <a:pt x="46508" y="271069"/>
                  </a:cubicBezTo>
                  <a:cubicBezTo>
                    <a:pt x="16729" y="241290"/>
                    <a:pt x="0" y="200902"/>
                    <a:pt x="0" y="158789"/>
                  </a:cubicBezTo>
                  <a:lnTo>
                    <a:pt x="0" y="158789"/>
                  </a:lnTo>
                  <a:cubicBezTo>
                    <a:pt x="0" y="116675"/>
                    <a:pt x="16729" y="76287"/>
                    <a:pt x="46508" y="46508"/>
                  </a:cubicBezTo>
                  <a:cubicBezTo>
                    <a:pt x="76287" y="16729"/>
                    <a:pt x="116675" y="0"/>
                    <a:pt x="158789" y="0"/>
                  </a:cubicBezTo>
                  <a:close/>
                </a:path>
              </a:pathLst>
            </a:custGeom>
            <a:solidFill>
              <a:srgbClr val="21212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17577" cy="355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209843" y="-602900"/>
            <a:ext cx="4554972" cy="1205800"/>
            <a:chOff x="0" y="0"/>
            <a:chExt cx="1199663" cy="31757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99663" cy="317577"/>
            </a:xfrm>
            <a:custGeom>
              <a:avLst/>
              <a:gdLst/>
              <a:ahLst/>
              <a:cxnLst/>
              <a:rect r="r" b="b" t="t" l="l"/>
              <a:pathLst>
                <a:path h="317577" w="1199663">
                  <a:moveTo>
                    <a:pt x="86683" y="0"/>
                  </a:moveTo>
                  <a:lnTo>
                    <a:pt x="1112981" y="0"/>
                  </a:lnTo>
                  <a:cubicBezTo>
                    <a:pt x="1160854" y="0"/>
                    <a:pt x="1199663" y="38809"/>
                    <a:pt x="1199663" y="86683"/>
                  </a:cubicBezTo>
                  <a:lnTo>
                    <a:pt x="1199663" y="230894"/>
                  </a:lnTo>
                  <a:cubicBezTo>
                    <a:pt x="1199663" y="253884"/>
                    <a:pt x="1190531" y="275932"/>
                    <a:pt x="1174275" y="292188"/>
                  </a:cubicBezTo>
                  <a:cubicBezTo>
                    <a:pt x="1158018" y="308444"/>
                    <a:pt x="1135970" y="317577"/>
                    <a:pt x="1112981" y="317577"/>
                  </a:cubicBezTo>
                  <a:lnTo>
                    <a:pt x="86683" y="317577"/>
                  </a:lnTo>
                  <a:cubicBezTo>
                    <a:pt x="38809" y="317577"/>
                    <a:pt x="0" y="278768"/>
                    <a:pt x="0" y="230894"/>
                  </a:cubicBezTo>
                  <a:lnTo>
                    <a:pt x="0" y="86683"/>
                  </a:lnTo>
                  <a:cubicBezTo>
                    <a:pt x="0" y="38809"/>
                    <a:pt x="38809" y="0"/>
                    <a:pt x="86683" y="0"/>
                  </a:cubicBezTo>
                  <a:close/>
                </a:path>
              </a:pathLst>
            </a:custGeom>
            <a:solidFill>
              <a:srgbClr val="2449C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199663" cy="355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94404" y="3716150"/>
            <a:ext cx="9577378" cy="5020324"/>
            <a:chOff x="0" y="0"/>
            <a:chExt cx="2522437" cy="13222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22437" cy="1322225"/>
            </a:xfrm>
            <a:custGeom>
              <a:avLst/>
              <a:gdLst/>
              <a:ahLst/>
              <a:cxnLst/>
              <a:rect r="r" b="b" t="t" l="l"/>
              <a:pathLst>
                <a:path h="1322225" w="2522437">
                  <a:moveTo>
                    <a:pt x="41226" y="0"/>
                  </a:moveTo>
                  <a:lnTo>
                    <a:pt x="2481211" y="0"/>
                  </a:lnTo>
                  <a:cubicBezTo>
                    <a:pt x="2503979" y="0"/>
                    <a:pt x="2522437" y="18458"/>
                    <a:pt x="2522437" y="41226"/>
                  </a:cubicBezTo>
                  <a:lnTo>
                    <a:pt x="2522437" y="1280999"/>
                  </a:lnTo>
                  <a:cubicBezTo>
                    <a:pt x="2522437" y="1303768"/>
                    <a:pt x="2503979" y="1322225"/>
                    <a:pt x="2481211" y="1322225"/>
                  </a:cubicBezTo>
                  <a:lnTo>
                    <a:pt x="41226" y="1322225"/>
                  </a:lnTo>
                  <a:cubicBezTo>
                    <a:pt x="18458" y="1322225"/>
                    <a:pt x="0" y="1303768"/>
                    <a:pt x="0" y="1280999"/>
                  </a:cubicBezTo>
                  <a:lnTo>
                    <a:pt x="0" y="41226"/>
                  </a:lnTo>
                  <a:cubicBezTo>
                    <a:pt x="0" y="18458"/>
                    <a:pt x="18458" y="0"/>
                    <a:pt x="41226" y="0"/>
                  </a:cubicBezTo>
                  <a:close/>
                </a:path>
              </a:pathLst>
            </a:custGeom>
            <a:solidFill>
              <a:srgbClr val="2449C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522437" cy="1360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66639" y="4049305"/>
            <a:ext cx="9053938" cy="4327548"/>
            <a:chOff x="0" y="0"/>
            <a:chExt cx="1391860" cy="6652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91860" cy="665273"/>
            </a:xfrm>
            <a:custGeom>
              <a:avLst/>
              <a:gdLst/>
              <a:ahLst/>
              <a:cxnLst/>
              <a:rect r="r" b="b" t="t" l="l"/>
              <a:pathLst>
                <a:path h="665273" w="1391860">
                  <a:moveTo>
                    <a:pt x="19667" y="0"/>
                  </a:moveTo>
                  <a:lnTo>
                    <a:pt x="1372193" y="0"/>
                  </a:lnTo>
                  <a:cubicBezTo>
                    <a:pt x="1377409" y="0"/>
                    <a:pt x="1382411" y="2072"/>
                    <a:pt x="1386100" y="5760"/>
                  </a:cubicBezTo>
                  <a:cubicBezTo>
                    <a:pt x="1389788" y="9449"/>
                    <a:pt x="1391860" y="14451"/>
                    <a:pt x="1391860" y="19667"/>
                  </a:cubicBezTo>
                  <a:lnTo>
                    <a:pt x="1391860" y="645606"/>
                  </a:lnTo>
                  <a:cubicBezTo>
                    <a:pt x="1391860" y="650822"/>
                    <a:pt x="1389788" y="655824"/>
                    <a:pt x="1386100" y="659513"/>
                  </a:cubicBezTo>
                  <a:cubicBezTo>
                    <a:pt x="1382411" y="663201"/>
                    <a:pt x="1377409" y="665273"/>
                    <a:pt x="1372193" y="665273"/>
                  </a:cubicBezTo>
                  <a:lnTo>
                    <a:pt x="19667" y="665273"/>
                  </a:lnTo>
                  <a:cubicBezTo>
                    <a:pt x="14451" y="665273"/>
                    <a:pt x="9449" y="663201"/>
                    <a:pt x="5760" y="659513"/>
                  </a:cubicBezTo>
                  <a:cubicBezTo>
                    <a:pt x="2072" y="655824"/>
                    <a:pt x="0" y="650822"/>
                    <a:pt x="0" y="645606"/>
                  </a:cubicBezTo>
                  <a:lnTo>
                    <a:pt x="0" y="19667"/>
                  </a:lnTo>
                  <a:cubicBezTo>
                    <a:pt x="0" y="14451"/>
                    <a:pt x="2072" y="9449"/>
                    <a:pt x="5760" y="5760"/>
                  </a:cubicBezTo>
                  <a:cubicBezTo>
                    <a:pt x="9449" y="2072"/>
                    <a:pt x="14451" y="0"/>
                    <a:pt x="19667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5310" r="0" b="-25310"/>
              </a:stretch>
            </a:blipFill>
            <a:ln w="9525" cap="rnd">
              <a:solidFill>
                <a:srgbClr val="212121"/>
              </a:solidFill>
              <a:prstDash val="solid"/>
              <a:round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0298945" y="829832"/>
            <a:ext cx="6835933" cy="4800942"/>
            <a:chOff x="0" y="0"/>
            <a:chExt cx="1800410" cy="126444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00410" cy="1264446"/>
            </a:xfrm>
            <a:custGeom>
              <a:avLst/>
              <a:gdLst/>
              <a:ahLst/>
              <a:cxnLst/>
              <a:rect r="r" b="b" t="t" l="l"/>
              <a:pathLst>
                <a:path h="1264446" w="1800410">
                  <a:moveTo>
                    <a:pt x="57759" y="0"/>
                  </a:moveTo>
                  <a:lnTo>
                    <a:pt x="1742651" y="0"/>
                  </a:lnTo>
                  <a:cubicBezTo>
                    <a:pt x="1774551" y="0"/>
                    <a:pt x="1800410" y="25860"/>
                    <a:pt x="1800410" y="57759"/>
                  </a:cubicBezTo>
                  <a:lnTo>
                    <a:pt x="1800410" y="1206686"/>
                  </a:lnTo>
                  <a:cubicBezTo>
                    <a:pt x="1800410" y="1222005"/>
                    <a:pt x="1794325" y="1236696"/>
                    <a:pt x="1783493" y="1247528"/>
                  </a:cubicBezTo>
                  <a:cubicBezTo>
                    <a:pt x="1772661" y="1258360"/>
                    <a:pt x="1757970" y="1264446"/>
                    <a:pt x="1742651" y="1264446"/>
                  </a:cubicBezTo>
                  <a:lnTo>
                    <a:pt x="57759" y="1264446"/>
                  </a:lnTo>
                  <a:cubicBezTo>
                    <a:pt x="25860" y="1264446"/>
                    <a:pt x="0" y="1238586"/>
                    <a:pt x="0" y="1206686"/>
                  </a:cubicBezTo>
                  <a:lnTo>
                    <a:pt x="0" y="57759"/>
                  </a:lnTo>
                  <a:cubicBezTo>
                    <a:pt x="0" y="25860"/>
                    <a:pt x="25860" y="0"/>
                    <a:pt x="57759" y="0"/>
                  </a:cubicBezTo>
                  <a:close/>
                </a:path>
              </a:pathLst>
            </a:custGeom>
            <a:solidFill>
              <a:srgbClr val="2449CC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800410" cy="13025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7719135" y="2332620"/>
            <a:ext cx="477709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 spc="-12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10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92680" y="1599576"/>
            <a:ext cx="6932028" cy="1742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96"/>
              </a:lnSpc>
            </a:pPr>
            <a:r>
              <a:rPr lang="en-US" b="true" sz="7200" spc="-518">
                <a:solidFill>
                  <a:srgbClr val="21212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LOW CUTOFF FRQUENCY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543684" y="1053004"/>
            <a:ext cx="6591194" cy="4577770"/>
            <a:chOff x="0" y="0"/>
            <a:chExt cx="1391860" cy="96668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91860" cy="966686"/>
            </a:xfrm>
            <a:custGeom>
              <a:avLst/>
              <a:gdLst/>
              <a:ahLst/>
              <a:cxnLst/>
              <a:rect r="r" b="b" t="t" l="l"/>
              <a:pathLst>
                <a:path h="966686" w="1391860">
                  <a:moveTo>
                    <a:pt x="27015" y="0"/>
                  </a:moveTo>
                  <a:lnTo>
                    <a:pt x="1364844" y="0"/>
                  </a:lnTo>
                  <a:cubicBezTo>
                    <a:pt x="1372009" y="0"/>
                    <a:pt x="1378881" y="2846"/>
                    <a:pt x="1383947" y="7913"/>
                  </a:cubicBezTo>
                  <a:cubicBezTo>
                    <a:pt x="1389014" y="12979"/>
                    <a:pt x="1391860" y="19851"/>
                    <a:pt x="1391860" y="27015"/>
                  </a:cubicBezTo>
                  <a:lnTo>
                    <a:pt x="1391860" y="939670"/>
                  </a:lnTo>
                  <a:cubicBezTo>
                    <a:pt x="1391860" y="946835"/>
                    <a:pt x="1389014" y="953707"/>
                    <a:pt x="1383947" y="958773"/>
                  </a:cubicBezTo>
                  <a:cubicBezTo>
                    <a:pt x="1378881" y="963840"/>
                    <a:pt x="1372009" y="966686"/>
                    <a:pt x="1364844" y="966686"/>
                  </a:cubicBezTo>
                  <a:lnTo>
                    <a:pt x="27015" y="966686"/>
                  </a:lnTo>
                  <a:cubicBezTo>
                    <a:pt x="19851" y="966686"/>
                    <a:pt x="12979" y="963840"/>
                    <a:pt x="7913" y="958773"/>
                  </a:cubicBezTo>
                  <a:cubicBezTo>
                    <a:pt x="2846" y="953707"/>
                    <a:pt x="0" y="946835"/>
                    <a:pt x="0" y="939670"/>
                  </a:cubicBezTo>
                  <a:lnTo>
                    <a:pt x="0" y="27015"/>
                  </a:lnTo>
                  <a:cubicBezTo>
                    <a:pt x="0" y="19851"/>
                    <a:pt x="2846" y="12979"/>
                    <a:pt x="7913" y="7913"/>
                  </a:cubicBezTo>
                  <a:cubicBezTo>
                    <a:pt x="12979" y="2846"/>
                    <a:pt x="19851" y="0"/>
                    <a:pt x="27015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293" r="0" b="-1293"/>
              </a:stretch>
            </a:blipFill>
            <a:ln w="9525" cap="rnd">
              <a:solidFill>
                <a:srgbClr val="212121"/>
              </a:solidFill>
              <a:prstDash val="solid"/>
              <a:round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1195886" y="6213079"/>
            <a:ext cx="5042051" cy="3617306"/>
            <a:chOff x="0" y="0"/>
            <a:chExt cx="1974353" cy="141645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74353" cy="1416455"/>
            </a:xfrm>
            <a:custGeom>
              <a:avLst/>
              <a:gdLst/>
              <a:ahLst/>
              <a:cxnLst/>
              <a:rect r="r" b="b" t="t" l="l"/>
              <a:pathLst>
                <a:path h="1416455" w="1974353">
                  <a:moveTo>
                    <a:pt x="78309" y="0"/>
                  </a:moveTo>
                  <a:lnTo>
                    <a:pt x="1896044" y="0"/>
                  </a:lnTo>
                  <a:cubicBezTo>
                    <a:pt x="1939293" y="0"/>
                    <a:pt x="1974353" y="35060"/>
                    <a:pt x="1974353" y="78309"/>
                  </a:cubicBezTo>
                  <a:lnTo>
                    <a:pt x="1974353" y="1338146"/>
                  </a:lnTo>
                  <a:cubicBezTo>
                    <a:pt x="1974353" y="1381395"/>
                    <a:pt x="1939293" y="1416455"/>
                    <a:pt x="1896044" y="1416455"/>
                  </a:cubicBezTo>
                  <a:lnTo>
                    <a:pt x="78309" y="1416455"/>
                  </a:lnTo>
                  <a:cubicBezTo>
                    <a:pt x="35060" y="1416455"/>
                    <a:pt x="0" y="1381395"/>
                    <a:pt x="0" y="1338146"/>
                  </a:cubicBezTo>
                  <a:lnTo>
                    <a:pt x="0" y="78309"/>
                  </a:lnTo>
                  <a:cubicBezTo>
                    <a:pt x="0" y="35060"/>
                    <a:pt x="35060" y="0"/>
                    <a:pt x="78309" y="0"/>
                  </a:cubicBezTo>
                  <a:close/>
                </a:path>
              </a:pathLst>
            </a:custGeom>
            <a:solidFill>
              <a:srgbClr val="2449CC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974353" cy="14545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1465874" y="6325077"/>
            <a:ext cx="3512509" cy="372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228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Each capacitor causes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002949" y="6842713"/>
            <a:ext cx="3531505" cy="1171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6831" indent="-183415" lvl="1">
              <a:lnSpc>
                <a:spcPts val="2378"/>
              </a:lnSpc>
              <a:buAutoNum type="arabicPeriod" startAt="1"/>
            </a:pPr>
            <a:r>
              <a:rPr lang="en-US" sz="16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Gain increases by +20dB/decade</a:t>
            </a:r>
          </a:p>
          <a:p>
            <a:pPr algn="l" marL="366831" indent="-183415" lvl="1">
              <a:lnSpc>
                <a:spcPts val="2378"/>
              </a:lnSpc>
              <a:buAutoNum type="arabicPeriod" startAt="1"/>
            </a:pPr>
            <a:r>
              <a:rPr lang="en-US" sz="16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Below its cutoff thee gain reduces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002949" y="8146643"/>
            <a:ext cx="3594018" cy="890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3324" indent="-186662" lvl="1">
              <a:lnSpc>
                <a:spcPts val="2420"/>
              </a:lnSpc>
              <a:buFont typeface="Arial"/>
              <a:buChar char="•"/>
            </a:pPr>
            <a:r>
              <a:rPr lang="en-US" sz="172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Total slope at very low frequency = +40dB/decade</a:t>
            </a:r>
          </a:p>
          <a:p>
            <a:pPr algn="l" marL="373324" indent="-186662" lvl="1">
              <a:lnSpc>
                <a:spcPts val="2420"/>
              </a:lnSpc>
              <a:buFont typeface="Arial"/>
              <a:buChar char="•"/>
            </a:pPr>
            <a:r>
              <a:rPr lang="en-US" sz="172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+20dB from each frequency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914372" y="1902122"/>
            <a:ext cx="1751694" cy="6482756"/>
            <a:chOff x="0" y="0"/>
            <a:chExt cx="461351" cy="17073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1351" cy="1707392"/>
            </a:xfrm>
            <a:custGeom>
              <a:avLst/>
              <a:gdLst/>
              <a:ahLst/>
              <a:cxnLst/>
              <a:rect r="r" b="b" t="t" l="l"/>
              <a:pathLst>
                <a:path h="1707392" w="461351">
                  <a:moveTo>
                    <a:pt x="154689" y="0"/>
                  </a:moveTo>
                  <a:lnTo>
                    <a:pt x="306663" y="0"/>
                  </a:lnTo>
                  <a:cubicBezTo>
                    <a:pt x="347689" y="0"/>
                    <a:pt x="387034" y="16298"/>
                    <a:pt x="416044" y="45307"/>
                  </a:cubicBezTo>
                  <a:cubicBezTo>
                    <a:pt x="445054" y="74317"/>
                    <a:pt x="461351" y="113663"/>
                    <a:pt x="461351" y="154689"/>
                  </a:cubicBezTo>
                  <a:lnTo>
                    <a:pt x="461351" y="1552704"/>
                  </a:lnTo>
                  <a:cubicBezTo>
                    <a:pt x="461351" y="1593730"/>
                    <a:pt x="445054" y="1633076"/>
                    <a:pt x="416044" y="1662085"/>
                  </a:cubicBezTo>
                  <a:cubicBezTo>
                    <a:pt x="387034" y="1691095"/>
                    <a:pt x="347689" y="1707392"/>
                    <a:pt x="306663" y="1707392"/>
                  </a:cubicBezTo>
                  <a:lnTo>
                    <a:pt x="154689" y="1707392"/>
                  </a:lnTo>
                  <a:cubicBezTo>
                    <a:pt x="113663" y="1707392"/>
                    <a:pt x="74317" y="1691095"/>
                    <a:pt x="45307" y="1662085"/>
                  </a:cubicBezTo>
                  <a:cubicBezTo>
                    <a:pt x="16298" y="1633076"/>
                    <a:pt x="0" y="1593730"/>
                    <a:pt x="0" y="1552704"/>
                  </a:cubicBezTo>
                  <a:lnTo>
                    <a:pt x="0" y="154689"/>
                  </a:lnTo>
                  <a:cubicBezTo>
                    <a:pt x="0" y="113663"/>
                    <a:pt x="16298" y="74317"/>
                    <a:pt x="45307" y="45307"/>
                  </a:cubicBezTo>
                  <a:cubicBezTo>
                    <a:pt x="74317" y="16298"/>
                    <a:pt x="113663" y="0"/>
                    <a:pt x="154689" y="0"/>
                  </a:cubicBez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1351" cy="17454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584419" y="1902122"/>
            <a:ext cx="1205800" cy="1205800"/>
            <a:chOff x="0" y="0"/>
            <a:chExt cx="317577" cy="31757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17577" cy="317577"/>
            </a:xfrm>
            <a:custGeom>
              <a:avLst/>
              <a:gdLst/>
              <a:ahLst/>
              <a:cxnLst/>
              <a:rect r="r" b="b" t="t" l="l"/>
              <a:pathLst>
                <a:path h="317577" w="317577">
                  <a:moveTo>
                    <a:pt x="158789" y="0"/>
                  </a:moveTo>
                  <a:lnTo>
                    <a:pt x="158789" y="0"/>
                  </a:lnTo>
                  <a:cubicBezTo>
                    <a:pt x="200902" y="0"/>
                    <a:pt x="241290" y="16729"/>
                    <a:pt x="271069" y="46508"/>
                  </a:cubicBezTo>
                  <a:cubicBezTo>
                    <a:pt x="300848" y="76287"/>
                    <a:pt x="317577" y="116675"/>
                    <a:pt x="317577" y="158789"/>
                  </a:cubicBezTo>
                  <a:lnTo>
                    <a:pt x="317577" y="158789"/>
                  </a:lnTo>
                  <a:cubicBezTo>
                    <a:pt x="317577" y="200902"/>
                    <a:pt x="300848" y="241290"/>
                    <a:pt x="271069" y="271069"/>
                  </a:cubicBezTo>
                  <a:cubicBezTo>
                    <a:pt x="241290" y="300848"/>
                    <a:pt x="200902" y="317577"/>
                    <a:pt x="158789" y="317577"/>
                  </a:cubicBezTo>
                  <a:lnTo>
                    <a:pt x="158789" y="317577"/>
                  </a:lnTo>
                  <a:cubicBezTo>
                    <a:pt x="116675" y="317577"/>
                    <a:pt x="76287" y="300848"/>
                    <a:pt x="46508" y="271069"/>
                  </a:cubicBezTo>
                  <a:cubicBezTo>
                    <a:pt x="16729" y="241290"/>
                    <a:pt x="0" y="200902"/>
                    <a:pt x="0" y="158789"/>
                  </a:cubicBezTo>
                  <a:lnTo>
                    <a:pt x="0" y="158789"/>
                  </a:lnTo>
                  <a:cubicBezTo>
                    <a:pt x="0" y="116675"/>
                    <a:pt x="16729" y="76287"/>
                    <a:pt x="46508" y="46508"/>
                  </a:cubicBezTo>
                  <a:cubicBezTo>
                    <a:pt x="76287" y="16729"/>
                    <a:pt x="116675" y="0"/>
                    <a:pt x="158789" y="0"/>
                  </a:cubicBezTo>
                  <a:close/>
                </a:path>
              </a:pathLst>
            </a:custGeom>
            <a:solidFill>
              <a:srgbClr val="21212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17577" cy="355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209843" y="-602900"/>
            <a:ext cx="4554972" cy="1205800"/>
            <a:chOff x="0" y="0"/>
            <a:chExt cx="1199663" cy="31757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99663" cy="317577"/>
            </a:xfrm>
            <a:custGeom>
              <a:avLst/>
              <a:gdLst/>
              <a:ahLst/>
              <a:cxnLst/>
              <a:rect r="r" b="b" t="t" l="l"/>
              <a:pathLst>
                <a:path h="317577" w="1199663">
                  <a:moveTo>
                    <a:pt x="86683" y="0"/>
                  </a:moveTo>
                  <a:lnTo>
                    <a:pt x="1112981" y="0"/>
                  </a:lnTo>
                  <a:cubicBezTo>
                    <a:pt x="1160854" y="0"/>
                    <a:pt x="1199663" y="38809"/>
                    <a:pt x="1199663" y="86683"/>
                  </a:cubicBezTo>
                  <a:lnTo>
                    <a:pt x="1199663" y="230894"/>
                  </a:lnTo>
                  <a:cubicBezTo>
                    <a:pt x="1199663" y="253884"/>
                    <a:pt x="1190531" y="275932"/>
                    <a:pt x="1174275" y="292188"/>
                  </a:cubicBezTo>
                  <a:cubicBezTo>
                    <a:pt x="1158018" y="308444"/>
                    <a:pt x="1135970" y="317577"/>
                    <a:pt x="1112981" y="317577"/>
                  </a:cubicBezTo>
                  <a:lnTo>
                    <a:pt x="86683" y="317577"/>
                  </a:lnTo>
                  <a:cubicBezTo>
                    <a:pt x="38809" y="317577"/>
                    <a:pt x="0" y="278768"/>
                    <a:pt x="0" y="230894"/>
                  </a:cubicBezTo>
                  <a:lnTo>
                    <a:pt x="0" y="86683"/>
                  </a:lnTo>
                  <a:cubicBezTo>
                    <a:pt x="0" y="38809"/>
                    <a:pt x="38809" y="0"/>
                    <a:pt x="86683" y="0"/>
                  </a:cubicBezTo>
                  <a:close/>
                </a:path>
              </a:pathLst>
            </a:custGeom>
            <a:solidFill>
              <a:srgbClr val="2449C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199663" cy="355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942871" y="9684100"/>
            <a:ext cx="4554972" cy="1205800"/>
            <a:chOff x="0" y="0"/>
            <a:chExt cx="1199663" cy="31757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99663" cy="317577"/>
            </a:xfrm>
            <a:custGeom>
              <a:avLst/>
              <a:gdLst/>
              <a:ahLst/>
              <a:cxnLst/>
              <a:rect r="r" b="b" t="t" l="l"/>
              <a:pathLst>
                <a:path h="317577" w="1199663">
                  <a:moveTo>
                    <a:pt x="86683" y="0"/>
                  </a:moveTo>
                  <a:lnTo>
                    <a:pt x="1112981" y="0"/>
                  </a:lnTo>
                  <a:cubicBezTo>
                    <a:pt x="1160854" y="0"/>
                    <a:pt x="1199663" y="38809"/>
                    <a:pt x="1199663" y="86683"/>
                  </a:cubicBezTo>
                  <a:lnTo>
                    <a:pt x="1199663" y="230894"/>
                  </a:lnTo>
                  <a:cubicBezTo>
                    <a:pt x="1199663" y="253884"/>
                    <a:pt x="1190531" y="275932"/>
                    <a:pt x="1174275" y="292188"/>
                  </a:cubicBezTo>
                  <a:cubicBezTo>
                    <a:pt x="1158018" y="308444"/>
                    <a:pt x="1135970" y="317577"/>
                    <a:pt x="1112981" y="317577"/>
                  </a:cubicBezTo>
                  <a:lnTo>
                    <a:pt x="86683" y="317577"/>
                  </a:lnTo>
                  <a:cubicBezTo>
                    <a:pt x="38809" y="317577"/>
                    <a:pt x="0" y="278768"/>
                    <a:pt x="0" y="230894"/>
                  </a:cubicBezTo>
                  <a:lnTo>
                    <a:pt x="0" y="86683"/>
                  </a:lnTo>
                  <a:cubicBezTo>
                    <a:pt x="0" y="38809"/>
                    <a:pt x="38809" y="0"/>
                    <a:pt x="86683" y="0"/>
                  </a:cubicBezTo>
                  <a:close/>
                </a:path>
              </a:pathLst>
            </a:custGeom>
            <a:solidFill>
              <a:srgbClr val="2449C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199663" cy="355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54222" y="2843585"/>
            <a:ext cx="10140570" cy="6414715"/>
            <a:chOff x="0" y="0"/>
            <a:chExt cx="2267718" cy="143451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67718" cy="1434512"/>
            </a:xfrm>
            <a:custGeom>
              <a:avLst/>
              <a:gdLst/>
              <a:ahLst/>
              <a:cxnLst/>
              <a:rect r="r" b="b" t="t" l="l"/>
              <a:pathLst>
                <a:path h="1434512" w="2267718">
                  <a:moveTo>
                    <a:pt x="17560" y="0"/>
                  </a:moveTo>
                  <a:lnTo>
                    <a:pt x="2250159" y="0"/>
                  </a:lnTo>
                  <a:cubicBezTo>
                    <a:pt x="2259857" y="0"/>
                    <a:pt x="2267718" y="7862"/>
                    <a:pt x="2267718" y="17560"/>
                  </a:cubicBezTo>
                  <a:lnTo>
                    <a:pt x="2267718" y="1416952"/>
                  </a:lnTo>
                  <a:cubicBezTo>
                    <a:pt x="2267718" y="1426650"/>
                    <a:pt x="2259857" y="1434512"/>
                    <a:pt x="2250159" y="1434512"/>
                  </a:cubicBezTo>
                  <a:lnTo>
                    <a:pt x="17560" y="1434512"/>
                  </a:lnTo>
                  <a:cubicBezTo>
                    <a:pt x="7862" y="1434512"/>
                    <a:pt x="0" y="1426650"/>
                    <a:pt x="0" y="1416952"/>
                  </a:cubicBezTo>
                  <a:lnTo>
                    <a:pt x="0" y="17560"/>
                  </a:lnTo>
                  <a:cubicBezTo>
                    <a:pt x="0" y="7862"/>
                    <a:pt x="7862" y="0"/>
                    <a:pt x="1756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221" r="0" b="-1221"/>
              </a:stretch>
            </a:blipFill>
            <a:ln w="9525" cap="rnd">
              <a:solidFill>
                <a:srgbClr val="212121"/>
              </a:solidFill>
              <a:prstDash val="solid"/>
              <a:round/>
            </a:ln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13514972" y="3521157"/>
            <a:ext cx="672491" cy="356420"/>
          </a:xfrm>
          <a:custGeom>
            <a:avLst/>
            <a:gdLst/>
            <a:ahLst/>
            <a:cxnLst/>
            <a:rect r="r" b="b" t="t" l="l"/>
            <a:pathLst>
              <a:path h="356420" w="672491">
                <a:moveTo>
                  <a:pt x="0" y="0"/>
                </a:moveTo>
                <a:lnTo>
                  <a:pt x="672491" y="0"/>
                </a:lnTo>
                <a:lnTo>
                  <a:pt x="672491" y="356420"/>
                </a:lnTo>
                <a:lnTo>
                  <a:pt x="0" y="3564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7719135" y="2332620"/>
            <a:ext cx="477709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 spc="-12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0" y="802925"/>
            <a:ext cx="8870500" cy="1742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96"/>
              </a:lnSpc>
            </a:pPr>
            <a:r>
              <a:rPr lang="en-US" b="true" sz="7200" spc="-518">
                <a:solidFill>
                  <a:srgbClr val="21212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FREQUENCY RESPONSE CURVE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399421" y="3839477"/>
            <a:ext cx="2648218" cy="433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3"/>
              </a:lnSpc>
            </a:pPr>
            <a:r>
              <a:rPr lang="en-US" sz="2631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EXPLANATION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612349" y="1854497"/>
            <a:ext cx="5289230" cy="7289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136" indent="-248068" lvl="1">
              <a:lnSpc>
                <a:spcPts val="3217"/>
              </a:lnSpc>
              <a:buAutoNum type="arabicPeriod" startAt="1"/>
            </a:pPr>
            <a:r>
              <a:rPr lang="en-US" sz="2297">
                <a:solidFill>
                  <a:srgbClr val="636363"/>
                </a:solidFill>
                <a:latin typeface="Open Sauce"/>
                <a:ea typeface="Open Sauce"/>
                <a:cs typeface="Open Sauce"/>
                <a:sym typeface="Open Sauce"/>
              </a:rPr>
              <a:t>Bone magnitude plot</a:t>
            </a:r>
          </a:p>
          <a:p>
            <a:pPr algn="l">
              <a:lnSpc>
                <a:spcPts val="3217"/>
              </a:lnSpc>
            </a:pPr>
            <a:r>
              <a:rPr lang="en-US" sz="2297">
                <a:solidFill>
                  <a:srgbClr val="636363"/>
                </a:solidFill>
                <a:latin typeface="Open Sauce"/>
                <a:ea typeface="Open Sauce"/>
                <a:cs typeface="Open Sauce"/>
                <a:sym typeface="Open Sauce"/>
              </a:rPr>
              <a:t> x axis - frequency in log scale</a:t>
            </a:r>
          </a:p>
          <a:p>
            <a:pPr algn="l">
              <a:lnSpc>
                <a:spcPts val="3217"/>
              </a:lnSpc>
            </a:pPr>
            <a:r>
              <a:rPr lang="en-US" sz="2297">
                <a:solidFill>
                  <a:srgbClr val="636363"/>
                </a:solidFill>
                <a:latin typeface="Open Sauce"/>
                <a:ea typeface="Open Sauce"/>
                <a:cs typeface="Open Sauce"/>
                <a:sym typeface="Open Sauce"/>
              </a:rPr>
              <a:t>y axis - gain in dB</a:t>
            </a:r>
          </a:p>
          <a:p>
            <a:pPr algn="l" marL="496136" indent="-248068" lvl="1">
              <a:lnSpc>
                <a:spcPts val="3217"/>
              </a:lnSpc>
              <a:buAutoNum type="arabicPeriod" startAt="1"/>
            </a:pPr>
            <a:r>
              <a:rPr lang="en-US" sz="2297">
                <a:solidFill>
                  <a:srgbClr val="636363"/>
                </a:solidFill>
                <a:latin typeface="Open Sauce"/>
                <a:ea typeface="Open Sauce"/>
                <a:cs typeface="Open Sauce"/>
                <a:sym typeface="Open Sauce"/>
              </a:rPr>
              <a:t> Pass band </a:t>
            </a:r>
          </a:p>
          <a:p>
            <a:pPr algn="l">
              <a:lnSpc>
                <a:spcPts val="3217"/>
              </a:lnSpc>
            </a:pPr>
            <a:r>
              <a:rPr lang="en-US" sz="2297">
                <a:solidFill>
                  <a:srgbClr val="636363"/>
                </a:solidFill>
                <a:latin typeface="Open Sauce"/>
                <a:ea typeface="Open Sauce"/>
                <a:cs typeface="Open Sauce"/>
                <a:sym typeface="Open Sauce"/>
              </a:rPr>
              <a:t>capacitors gets short circuit and gain is constant</a:t>
            </a:r>
          </a:p>
          <a:p>
            <a:pPr algn="l" marL="496136" indent="-248068" lvl="1">
              <a:lnSpc>
                <a:spcPts val="3217"/>
              </a:lnSpc>
              <a:buAutoNum type="arabicPeriod" startAt="1"/>
            </a:pPr>
            <a:r>
              <a:rPr lang="en-US" sz="2297">
                <a:solidFill>
                  <a:srgbClr val="636363"/>
                </a:solidFill>
                <a:latin typeface="Open Sauce"/>
                <a:ea typeface="Open Sauce"/>
                <a:cs typeface="Open Sauce"/>
                <a:sym typeface="Open Sauce"/>
              </a:rPr>
              <a:t>cutoff frequency </a:t>
            </a:r>
          </a:p>
          <a:p>
            <a:pPr algn="l">
              <a:lnSpc>
                <a:spcPts val="3217"/>
              </a:lnSpc>
            </a:pPr>
            <a:r>
              <a:rPr lang="en-US" sz="2297">
                <a:solidFill>
                  <a:srgbClr val="636363"/>
                </a:solidFill>
                <a:latin typeface="Open Sauce"/>
                <a:ea typeface="Open Sauce"/>
                <a:cs typeface="Open Sauce"/>
                <a:sym typeface="Open Sauce"/>
              </a:rPr>
              <a:t>gain drops by 3dB which means =</a:t>
            </a:r>
          </a:p>
          <a:p>
            <a:pPr algn="l">
              <a:lnSpc>
                <a:spcPts val="3217"/>
              </a:lnSpc>
            </a:pPr>
            <a:r>
              <a:rPr lang="en-US" sz="2297">
                <a:solidFill>
                  <a:srgbClr val="636363"/>
                </a:solidFill>
                <a:latin typeface="Open Sauce"/>
                <a:ea typeface="Open Sauce"/>
                <a:cs typeface="Open Sauce"/>
                <a:sym typeface="Open Sauce"/>
              </a:rPr>
              <a:t>0.707xmid band value</a:t>
            </a:r>
          </a:p>
          <a:p>
            <a:pPr algn="l" marL="496136" indent="-248068" lvl="1">
              <a:lnSpc>
                <a:spcPts val="3217"/>
              </a:lnSpc>
              <a:buAutoNum type="arabicPeriod" startAt="1"/>
            </a:pPr>
            <a:r>
              <a:rPr lang="en-US" sz="2297">
                <a:solidFill>
                  <a:srgbClr val="636363"/>
                </a:solidFill>
                <a:latin typeface="Open Sauce"/>
                <a:ea typeface="Open Sauce"/>
                <a:cs typeface="Open Sauce"/>
                <a:sym typeface="Open Sauce"/>
              </a:rPr>
              <a:t>Attenuation Band </a:t>
            </a:r>
          </a:p>
          <a:p>
            <a:pPr algn="l" marL="496136" indent="-248068" lvl="1">
              <a:lnSpc>
                <a:spcPts val="3217"/>
              </a:lnSpc>
              <a:buFont typeface="Arial"/>
              <a:buChar char="•"/>
            </a:pPr>
            <a:r>
              <a:rPr lang="en-US" sz="2297">
                <a:solidFill>
                  <a:srgbClr val="636363"/>
                </a:solidFill>
                <a:latin typeface="Open Sauce"/>
                <a:ea typeface="Open Sauce"/>
                <a:cs typeface="Open Sauce"/>
                <a:sym typeface="Open Sauce"/>
              </a:rPr>
              <a:t>20dB per decade Bto D</a:t>
            </a:r>
          </a:p>
          <a:p>
            <a:pPr algn="l" marL="496136" indent="-248068" lvl="1">
              <a:lnSpc>
                <a:spcPts val="3217"/>
              </a:lnSpc>
              <a:buFont typeface="Arial"/>
              <a:buChar char="•"/>
            </a:pPr>
            <a:r>
              <a:rPr lang="en-US" sz="2297">
                <a:solidFill>
                  <a:srgbClr val="636363"/>
                </a:solidFill>
                <a:latin typeface="Open Sauce"/>
                <a:ea typeface="Open Sauce"/>
                <a:cs typeface="Open Sauce"/>
                <a:sym typeface="Open Sauce"/>
              </a:rPr>
              <a:t>10 dB per octave B to C</a:t>
            </a:r>
          </a:p>
          <a:p>
            <a:pPr algn="l" marL="496136" indent="-248068" lvl="1">
              <a:lnSpc>
                <a:spcPts val="3217"/>
              </a:lnSpc>
              <a:buFont typeface="Arial"/>
              <a:buChar char="•"/>
            </a:pPr>
            <a:r>
              <a:rPr lang="en-US" sz="2297">
                <a:solidFill>
                  <a:srgbClr val="636363"/>
                </a:solidFill>
                <a:latin typeface="Open Sauce"/>
                <a:ea typeface="Open Sauce"/>
                <a:cs typeface="Open Sauce"/>
                <a:sym typeface="Open Sauce"/>
              </a:rPr>
              <a:t>1 decade =fx10</a:t>
            </a:r>
          </a:p>
          <a:p>
            <a:pPr algn="l" marL="496136" indent="-248068" lvl="1">
              <a:lnSpc>
                <a:spcPts val="3217"/>
              </a:lnSpc>
              <a:buFont typeface="Arial"/>
              <a:buChar char="•"/>
            </a:pPr>
            <a:r>
              <a:rPr lang="en-US" sz="2297">
                <a:solidFill>
                  <a:srgbClr val="636363"/>
                </a:solidFill>
                <a:latin typeface="Open Sauce"/>
                <a:ea typeface="Open Sauce"/>
                <a:cs typeface="Open Sauce"/>
                <a:sym typeface="Open Sauce"/>
              </a:rPr>
              <a:t>1octave =fx2</a:t>
            </a:r>
          </a:p>
          <a:p>
            <a:pPr algn="l" marL="496136" indent="-248068" lvl="1">
              <a:lnSpc>
                <a:spcPts val="3217"/>
              </a:lnSpc>
              <a:buFont typeface="Arial"/>
              <a:buChar char="•"/>
            </a:pPr>
            <a:r>
              <a:rPr lang="en-US" sz="2297">
                <a:solidFill>
                  <a:srgbClr val="636363"/>
                </a:solidFill>
                <a:latin typeface="Open Sauce"/>
                <a:ea typeface="Open Sauce"/>
                <a:cs typeface="Open Sauce"/>
                <a:sym typeface="Open Sauce"/>
              </a:rPr>
              <a:t>10f increases 20dBgain decreases</a:t>
            </a:r>
          </a:p>
          <a:p>
            <a:pPr algn="l" marL="496136" indent="-248068" lvl="1">
              <a:lnSpc>
                <a:spcPts val="3217"/>
              </a:lnSpc>
              <a:buFont typeface="Arial"/>
              <a:buChar char="•"/>
            </a:pPr>
            <a:r>
              <a:rPr lang="en-US" sz="2297">
                <a:solidFill>
                  <a:srgbClr val="636363"/>
                </a:solidFill>
                <a:latin typeface="Open Sauce"/>
                <a:ea typeface="Open Sauce"/>
                <a:cs typeface="Open Sauce"/>
                <a:sym typeface="Open Sauce"/>
              </a:rPr>
              <a:t>one capacitor represents 1pole </a:t>
            </a:r>
          </a:p>
          <a:p>
            <a:pPr algn="l" marL="496136" indent="-248068" lvl="1">
              <a:lnSpc>
                <a:spcPts val="3217"/>
              </a:lnSpc>
              <a:buFont typeface="Arial"/>
              <a:buChar char="•"/>
            </a:pPr>
            <a:r>
              <a:rPr lang="en-US" sz="2297">
                <a:solidFill>
                  <a:srgbClr val="636363"/>
                </a:solidFill>
                <a:latin typeface="Open Sauce"/>
                <a:ea typeface="Open Sauce"/>
                <a:cs typeface="Open Sauce"/>
                <a:sym typeface="Open Sauce"/>
              </a:rPr>
              <a:t>one pole have 20dB gain loss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914372" y="1902122"/>
            <a:ext cx="1751694" cy="6482756"/>
            <a:chOff x="0" y="0"/>
            <a:chExt cx="461351" cy="17073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1351" cy="1707392"/>
            </a:xfrm>
            <a:custGeom>
              <a:avLst/>
              <a:gdLst/>
              <a:ahLst/>
              <a:cxnLst/>
              <a:rect r="r" b="b" t="t" l="l"/>
              <a:pathLst>
                <a:path h="1707392" w="461351">
                  <a:moveTo>
                    <a:pt x="154689" y="0"/>
                  </a:moveTo>
                  <a:lnTo>
                    <a:pt x="306663" y="0"/>
                  </a:lnTo>
                  <a:cubicBezTo>
                    <a:pt x="347689" y="0"/>
                    <a:pt x="387034" y="16298"/>
                    <a:pt x="416044" y="45307"/>
                  </a:cubicBezTo>
                  <a:cubicBezTo>
                    <a:pt x="445054" y="74317"/>
                    <a:pt x="461351" y="113663"/>
                    <a:pt x="461351" y="154689"/>
                  </a:cubicBezTo>
                  <a:lnTo>
                    <a:pt x="461351" y="1552704"/>
                  </a:lnTo>
                  <a:cubicBezTo>
                    <a:pt x="461351" y="1593730"/>
                    <a:pt x="445054" y="1633076"/>
                    <a:pt x="416044" y="1662085"/>
                  </a:cubicBezTo>
                  <a:cubicBezTo>
                    <a:pt x="387034" y="1691095"/>
                    <a:pt x="347689" y="1707392"/>
                    <a:pt x="306663" y="1707392"/>
                  </a:cubicBezTo>
                  <a:lnTo>
                    <a:pt x="154689" y="1707392"/>
                  </a:lnTo>
                  <a:cubicBezTo>
                    <a:pt x="113663" y="1707392"/>
                    <a:pt x="74317" y="1691095"/>
                    <a:pt x="45307" y="1662085"/>
                  </a:cubicBezTo>
                  <a:cubicBezTo>
                    <a:pt x="16298" y="1633076"/>
                    <a:pt x="0" y="1593730"/>
                    <a:pt x="0" y="1552704"/>
                  </a:cubicBezTo>
                  <a:lnTo>
                    <a:pt x="0" y="154689"/>
                  </a:lnTo>
                  <a:cubicBezTo>
                    <a:pt x="0" y="113663"/>
                    <a:pt x="16298" y="74317"/>
                    <a:pt x="45307" y="45307"/>
                  </a:cubicBezTo>
                  <a:cubicBezTo>
                    <a:pt x="74317" y="16298"/>
                    <a:pt x="113663" y="0"/>
                    <a:pt x="154689" y="0"/>
                  </a:cubicBez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1351" cy="17454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584419" y="1902122"/>
            <a:ext cx="1205800" cy="1205800"/>
            <a:chOff x="0" y="0"/>
            <a:chExt cx="317577" cy="31757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17577" cy="317577"/>
            </a:xfrm>
            <a:custGeom>
              <a:avLst/>
              <a:gdLst/>
              <a:ahLst/>
              <a:cxnLst/>
              <a:rect r="r" b="b" t="t" l="l"/>
              <a:pathLst>
                <a:path h="317577" w="317577">
                  <a:moveTo>
                    <a:pt x="158789" y="0"/>
                  </a:moveTo>
                  <a:lnTo>
                    <a:pt x="158789" y="0"/>
                  </a:lnTo>
                  <a:cubicBezTo>
                    <a:pt x="200902" y="0"/>
                    <a:pt x="241290" y="16729"/>
                    <a:pt x="271069" y="46508"/>
                  </a:cubicBezTo>
                  <a:cubicBezTo>
                    <a:pt x="300848" y="76287"/>
                    <a:pt x="317577" y="116675"/>
                    <a:pt x="317577" y="158789"/>
                  </a:cubicBezTo>
                  <a:lnTo>
                    <a:pt x="317577" y="158789"/>
                  </a:lnTo>
                  <a:cubicBezTo>
                    <a:pt x="317577" y="200902"/>
                    <a:pt x="300848" y="241290"/>
                    <a:pt x="271069" y="271069"/>
                  </a:cubicBezTo>
                  <a:cubicBezTo>
                    <a:pt x="241290" y="300848"/>
                    <a:pt x="200902" y="317577"/>
                    <a:pt x="158789" y="317577"/>
                  </a:cubicBezTo>
                  <a:lnTo>
                    <a:pt x="158789" y="317577"/>
                  </a:lnTo>
                  <a:cubicBezTo>
                    <a:pt x="116675" y="317577"/>
                    <a:pt x="76287" y="300848"/>
                    <a:pt x="46508" y="271069"/>
                  </a:cubicBezTo>
                  <a:cubicBezTo>
                    <a:pt x="16729" y="241290"/>
                    <a:pt x="0" y="200902"/>
                    <a:pt x="0" y="158789"/>
                  </a:cubicBezTo>
                  <a:lnTo>
                    <a:pt x="0" y="158789"/>
                  </a:lnTo>
                  <a:cubicBezTo>
                    <a:pt x="0" y="116675"/>
                    <a:pt x="16729" y="76287"/>
                    <a:pt x="46508" y="46508"/>
                  </a:cubicBezTo>
                  <a:cubicBezTo>
                    <a:pt x="76287" y="16729"/>
                    <a:pt x="116675" y="0"/>
                    <a:pt x="158789" y="0"/>
                  </a:cubicBezTo>
                  <a:close/>
                </a:path>
              </a:pathLst>
            </a:custGeom>
            <a:solidFill>
              <a:srgbClr val="21212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17577" cy="355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209843" y="-602900"/>
            <a:ext cx="4554972" cy="1205800"/>
            <a:chOff x="0" y="0"/>
            <a:chExt cx="1199663" cy="31757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99663" cy="317577"/>
            </a:xfrm>
            <a:custGeom>
              <a:avLst/>
              <a:gdLst/>
              <a:ahLst/>
              <a:cxnLst/>
              <a:rect r="r" b="b" t="t" l="l"/>
              <a:pathLst>
                <a:path h="317577" w="1199663">
                  <a:moveTo>
                    <a:pt x="86683" y="0"/>
                  </a:moveTo>
                  <a:lnTo>
                    <a:pt x="1112981" y="0"/>
                  </a:lnTo>
                  <a:cubicBezTo>
                    <a:pt x="1160854" y="0"/>
                    <a:pt x="1199663" y="38809"/>
                    <a:pt x="1199663" y="86683"/>
                  </a:cubicBezTo>
                  <a:lnTo>
                    <a:pt x="1199663" y="230894"/>
                  </a:lnTo>
                  <a:cubicBezTo>
                    <a:pt x="1199663" y="253884"/>
                    <a:pt x="1190531" y="275932"/>
                    <a:pt x="1174275" y="292188"/>
                  </a:cubicBezTo>
                  <a:cubicBezTo>
                    <a:pt x="1158018" y="308444"/>
                    <a:pt x="1135970" y="317577"/>
                    <a:pt x="1112981" y="317577"/>
                  </a:cubicBezTo>
                  <a:lnTo>
                    <a:pt x="86683" y="317577"/>
                  </a:lnTo>
                  <a:cubicBezTo>
                    <a:pt x="38809" y="317577"/>
                    <a:pt x="0" y="278768"/>
                    <a:pt x="0" y="230894"/>
                  </a:cubicBezTo>
                  <a:lnTo>
                    <a:pt x="0" y="86683"/>
                  </a:lnTo>
                  <a:cubicBezTo>
                    <a:pt x="0" y="38809"/>
                    <a:pt x="38809" y="0"/>
                    <a:pt x="86683" y="0"/>
                  </a:cubicBezTo>
                  <a:close/>
                </a:path>
              </a:pathLst>
            </a:custGeom>
            <a:solidFill>
              <a:srgbClr val="2449C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199663" cy="355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942871" y="9684100"/>
            <a:ext cx="4554972" cy="1205800"/>
            <a:chOff x="0" y="0"/>
            <a:chExt cx="1199663" cy="31757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99663" cy="317577"/>
            </a:xfrm>
            <a:custGeom>
              <a:avLst/>
              <a:gdLst/>
              <a:ahLst/>
              <a:cxnLst/>
              <a:rect r="r" b="b" t="t" l="l"/>
              <a:pathLst>
                <a:path h="317577" w="1199663">
                  <a:moveTo>
                    <a:pt x="86683" y="0"/>
                  </a:moveTo>
                  <a:lnTo>
                    <a:pt x="1112981" y="0"/>
                  </a:lnTo>
                  <a:cubicBezTo>
                    <a:pt x="1160854" y="0"/>
                    <a:pt x="1199663" y="38809"/>
                    <a:pt x="1199663" y="86683"/>
                  </a:cubicBezTo>
                  <a:lnTo>
                    <a:pt x="1199663" y="230894"/>
                  </a:lnTo>
                  <a:cubicBezTo>
                    <a:pt x="1199663" y="253884"/>
                    <a:pt x="1190531" y="275932"/>
                    <a:pt x="1174275" y="292188"/>
                  </a:cubicBezTo>
                  <a:cubicBezTo>
                    <a:pt x="1158018" y="308444"/>
                    <a:pt x="1135970" y="317577"/>
                    <a:pt x="1112981" y="317577"/>
                  </a:cubicBezTo>
                  <a:lnTo>
                    <a:pt x="86683" y="317577"/>
                  </a:lnTo>
                  <a:cubicBezTo>
                    <a:pt x="38809" y="317577"/>
                    <a:pt x="0" y="278768"/>
                    <a:pt x="0" y="230894"/>
                  </a:cubicBezTo>
                  <a:lnTo>
                    <a:pt x="0" y="86683"/>
                  </a:lnTo>
                  <a:cubicBezTo>
                    <a:pt x="0" y="38809"/>
                    <a:pt x="38809" y="0"/>
                    <a:pt x="86683" y="0"/>
                  </a:cubicBezTo>
                  <a:close/>
                </a:path>
              </a:pathLst>
            </a:custGeom>
            <a:solidFill>
              <a:srgbClr val="2449C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199663" cy="355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5156099" y="2505022"/>
            <a:ext cx="7641702" cy="7930068"/>
          </a:xfrm>
          <a:custGeom>
            <a:avLst/>
            <a:gdLst/>
            <a:ahLst/>
            <a:cxnLst/>
            <a:rect r="r" b="b" t="t" l="l"/>
            <a:pathLst>
              <a:path h="7930068" w="7641702">
                <a:moveTo>
                  <a:pt x="0" y="0"/>
                </a:moveTo>
                <a:lnTo>
                  <a:pt x="7641702" y="0"/>
                </a:lnTo>
                <a:lnTo>
                  <a:pt x="7641702" y="7930069"/>
                </a:lnTo>
                <a:lnTo>
                  <a:pt x="0" y="7930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7719135" y="2332620"/>
            <a:ext cx="477709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 spc="-12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510936" y="1175713"/>
            <a:ext cx="6932028" cy="894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96"/>
              </a:lnSpc>
            </a:pPr>
            <a:r>
              <a:rPr lang="en-US" b="true" sz="7200" spc="-518">
                <a:solidFill>
                  <a:srgbClr val="21212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CONCLUSION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334271" y="3627493"/>
            <a:ext cx="3642679" cy="544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9"/>
              </a:lnSpc>
            </a:pPr>
            <a:r>
              <a:rPr lang="en-US" sz="3185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 CONCLUSION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74558" y="5016904"/>
            <a:ext cx="5447305" cy="2493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3"/>
              </a:lnSpc>
            </a:pPr>
            <a:r>
              <a:rPr lang="en-US" sz="2366">
                <a:solidFill>
                  <a:srgbClr val="636363"/>
                </a:solidFill>
                <a:latin typeface="Open Sauce"/>
                <a:ea typeface="Open Sauce"/>
                <a:cs typeface="Open Sauce"/>
                <a:sym typeface="Open Sauce"/>
              </a:rPr>
              <a:t>The low frequency transfer function method helps us to determine how coupling capacitors influence the amplifiers gain and cutoff frequency enabling proper design of amplifier bandwidth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914372" y="1902122"/>
            <a:ext cx="1751694" cy="6482756"/>
            <a:chOff x="0" y="0"/>
            <a:chExt cx="461351" cy="17073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1351" cy="1707392"/>
            </a:xfrm>
            <a:custGeom>
              <a:avLst/>
              <a:gdLst/>
              <a:ahLst/>
              <a:cxnLst/>
              <a:rect r="r" b="b" t="t" l="l"/>
              <a:pathLst>
                <a:path h="1707392" w="461351">
                  <a:moveTo>
                    <a:pt x="154689" y="0"/>
                  </a:moveTo>
                  <a:lnTo>
                    <a:pt x="306663" y="0"/>
                  </a:lnTo>
                  <a:cubicBezTo>
                    <a:pt x="347689" y="0"/>
                    <a:pt x="387034" y="16298"/>
                    <a:pt x="416044" y="45307"/>
                  </a:cubicBezTo>
                  <a:cubicBezTo>
                    <a:pt x="445054" y="74317"/>
                    <a:pt x="461351" y="113663"/>
                    <a:pt x="461351" y="154689"/>
                  </a:cubicBezTo>
                  <a:lnTo>
                    <a:pt x="461351" y="1552704"/>
                  </a:lnTo>
                  <a:cubicBezTo>
                    <a:pt x="461351" y="1593730"/>
                    <a:pt x="445054" y="1633076"/>
                    <a:pt x="416044" y="1662085"/>
                  </a:cubicBezTo>
                  <a:cubicBezTo>
                    <a:pt x="387034" y="1691095"/>
                    <a:pt x="347689" y="1707392"/>
                    <a:pt x="306663" y="1707392"/>
                  </a:cubicBezTo>
                  <a:lnTo>
                    <a:pt x="154689" y="1707392"/>
                  </a:lnTo>
                  <a:cubicBezTo>
                    <a:pt x="113663" y="1707392"/>
                    <a:pt x="74317" y="1691095"/>
                    <a:pt x="45307" y="1662085"/>
                  </a:cubicBezTo>
                  <a:cubicBezTo>
                    <a:pt x="16298" y="1633076"/>
                    <a:pt x="0" y="1593730"/>
                    <a:pt x="0" y="1552704"/>
                  </a:cubicBezTo>
                  <a:lnTo>
                    <a:pt x="0" y="154689"/>
                  </a:lnTo>
                  <a:cubicBezTo>
                    <a:pt x="0" y="113663"/>
                    <a:pt x="16298" y="74317"/>
                    <a:pt x="45307" y="45307"/>
                  </a:cubicBezTo>
                  <a:cubicBezTo>
                    <a:pt x="74317" y="16298"/>
                    <a:pt x="113663" y="0"/>
                    <a:pt x="154689" y="0"/>
                  </a:cubicBez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1351" cy="17454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584419" y="1902122"/>
            <a:ext cx="1205800" cy="1205800"/>
            <a:chOff x="0" y="0"/>
            <a:chExt cx="317577" cy="31757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17577" cy="317577"/>
            </a:xfrm>
            <a:custGeom>
              <a:avLst/>
              <a:gdLst/>
              <a:ahLst/>
              <a:cxnLst/>
              <a:rect r="r" b="b" t="t" l="l"/>
              <a:pathLst>
                <a:path h="317577" w="317577">
                  <a:moveTo>
                    <a:pt x="158789" y="0"/>
                  </a:moveTo>
                  <a:lnTo>
                    <a:pt x="158789" y="0"/>
                  </a:lnTo>
                  <a:cubicBezTo>
                    <a:pt x="200902" y="0"/>
                    <a:pt x="241290" y="16729"/>
                    <a:pt x="271069" y="46508"/>
                  </a:cubicBezTo>
                  <a:cubicBezTo>
                    <a:pt x="300848" y="76287"/>
                    <a:pt x="317577" y="116675"/>
                    <a:pt x="317577" y="158789"/>
                  </a:cubicBezTo>
                  <a:lnTo>
                    <a:pt x="317577" y="158789"/>
                  </a:lnTo>
                  <a:cubicBezTo>
                    <a:pt x="317577" y="200902"/>
                    <a:pt x="300848" y="241290"/>
                    <a:pt x="271069" y="271069"/>
                  </a:cubicBezTo>
                  <a:cubicBezTo>
                    <a:pt x="241290" y="300848"/>
                    <a:pt x="200902" y="317577"/>
                    <a:pt x="158789" y="317577"/>
                  </a:cubicBezTo>
                  <a:lnTo>
                    <a:pt x="158789" y="317577"/>
                  </a:lnTo>
                  <a:cubicBezTo>
                    <a:pt x="116675" y="317577"/>
                    <a:pt x="76287" y="300848"/>
                    <a:pt x="46508" y="271069"/>
                  </a:cubicBezTo>
                  <a:cubicBezTo>
                    <a:pt x="16729" y="241290"/>
                    <a:pt x="0" y="200902"/>
                    <a:pt x="0" y="158789"/>
                  </a:cubicBezTo>
                  <a:lnTo>
                    <a:pt x="0" y="158789"/>
                  </a:lnTo>
                  <a:cubicBezTo>
                    <a:pt x="0" y="116675"/>
                    <a:pt x="16729" y="76287"/>
                    <a:pt x="46508" y="46508"/>
                  </a:cubicBezTo>
                  <a:cubicBezTo>
                    <a:pt x="76287" y="16729"/>
                    <a:pt x="116675" y="0"/>
                    <a:pt x="158789" y="0"/>
                  </a:cubicBezTo>
                  <a:close/>
                </a:path>
              </a:pathLst>
            </a:custGeom>
            <a:solidFill>
              <a:srgbClr val="21212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17577" cy="355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53513" y="4345769"/>
            <a:ext cx="16380973" cy="2111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04"/>
              </a:lnSpc>
            </a:pPr>
            <a:r>
              <a:rPr lang="en-US" b="true" sz="18400" spc="-1324">
                <a:solidFill>
                  <a:srgbClr val="E9E9E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THANK YOU!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594906" y="3680317"/>
            <a:ext cx="721160" cy="296850"/>
            <a:chOff x="0" y="0"/>
            <a:chExt cx="189935" cy="7818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9935" cy="78183"/>
            </a:xfrm>
            <a:custGeom>
              <a:avLst/>
              <a:gdLst/>
              <a:ahLst/>
              <a:cxnLst/>
              <a:rect r="r" b="b" t="t" l="l"/>
              <a:pathLst>
                <a:path h="78183" w="189935">
                  <a:moveTo>
                    <a:pt x="39091" y="0"/>
                  </a:moveTo>
                  <a:lnTo>
                    <a:pt x="150844" y="0"/>
                  </a:lnTo>
                  <a:cubicBezTo>
                    <a:pt x="172433" y="0"/>
                    <a:pt x="189935" y="17502"/>
                    <a:pt x="189935" y="39091"/>
                  </a:cubicBezTo>
                  <a:lnTo>
                    <a:pt x="189935" y="39091"/>
                  </a:lnTo>
                  <a:cubicBezTo>
                    <a:pt x="189935" y="49459"/>
                    <a:pt x="185817" y="59402"/>
                    <a:pt x="178485" y="66733"/>
                  </a:cubicBezTo>
                  <a:cubicBezTo>
                    <a:pt x="171154" y="74064"/>
                    <a:pt x="161211" y="78183"/>
                    <a:pt x="150844" y="78183"/>
                  </a:cubicBezTo>
                  <a:lnTo>
                    <a:pt x="39091" y="78183"/>
                  </a:lnTo>
                  <a:cubicBezTo>
                    <a:pt x="28724" y="78183"/>
                    <a:pt x="18781" y="74064"/>
                    <a:pt x="11450" y="66733"/>
                  </a:cubicBezTo>
                  <a:cubicBezTo>
                    <a:pt x="4119" y="59402"/>
                    <a:pt x="0" y="49459"/>
                    <a:pt x="0" y="39091"/>
                  </a:cubicBezTo>
                  <a:lnTo>
                    <a:pt x="0" y="39091"/>
                  </a:lnTo>
                  <a:cubicBezTo>
                    <a:pt x="0" y="28724"/>
                    <a:pt x="4119" y="18781"/>
                    <a:pt x="11450" y="11450"/>
                  </a:cubicBezTo>
                  <a:cubicBezTo>
                    <a:pt x="18781" y="4119"/>
                    <a:pt x="28724" y="0"/>
                    <a:pt x="39091" y="0"/>
                  </a:cubicBezTo>
                  <a:close/>
                </a:path>
              </a:pathLst>
            </a:custGeom>
            <a:solidFill>
              <a:srgbClr val="2449C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89935" cy="116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396244" y="3680317"/>
            <a:ext cx="296850" cy="29685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449C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4603582" y="4058279"/>
            <a:ext cx="9080836" cy="1941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19"/>
              </a:lnSpc>
            </a:pPr>
            <a:r>
              <a:rPr lang="en-US" b="true" sz="11299" spc="-813">
                <a:solidFill>
                  <a:srgbClr val="21212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THANK YOU!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-1209843" y="-602900"/>
            <a:ext cx="4554972" cy="1205800"/>
            <a:chOff x="0" y="0"/>
            <a:chExt cx="1199663" cy="31757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99663" cy="317577"/>
            </a:xfrm>
            <a:custGeom>
              <a:avLst/>
              <a:gdLst/>
              <a:ahLst/>
              <a:cxnLst/>
              <a:rect r="r" b="b" t="t" l="l"/>
              <a:pathLst>
                <a:path h="317577" w="1199663">
                  <a:moveTo>
                    <a:pt x="86683" y="0"/>
                  </a:moveTo>
                  <a:lnTo>
                    <a:pt x="1112981" y="0"/>
                  </a:lnTo>
                  <a:cubicBezTo>
                    <a:pt x="1160854" y="0"/>
                    <a:pt x="1199663" y="38809"/>
                    <a:pt x="1199663" y="86683"/>
                  </a:cubicBezTo>
                  <a:lnTo>
                    <a:pt x="1199663" y="230894"/>
                  </a:lnTo>
                  <a:cubicBezTo>
                    <a:pt x="1199663" y="253884"/>
                    <a:pt x="1190531" y="275932"/>
                    <a:pt x="1174275" y="292188"/>
                  </a:cubicBezTo>
                  <a:cubicBezTo>
                    <a:pt x="1158018" y="308444"/>
                    <a:pt x="1135970" y="317577"/>
                    <a:pt x="1112981" y="317577"/>
                  </a:cubicBezTo>
                  <a:lnTo>
                    <a:pt x="86683" y="317577"/>
                  </a:lnTo>
                  <a:cubicBezTo>
                    <a:pt x="38809" y="317577"/>
                    <a:pt x="0" y="278768"/>
                    <a:pt x="0" y="230894"/>
                  </a:cubicBezTo>
                  <a:lnTo>
                    <a:pt x="0" y="86683"/>
                  </a:lnTo>
                  <a:cubicBezTo>
                    <a:pt x="0" y="38809"/>
                    <a:pt x="38809" y="0"/>
                    <a:pt x="86683" y="0"/>
                  </a:cubicBezTo>
                  <a:close/>
                </a:path>
              </a:pathLst>
            </a:custGeom>
            <a:solidFill>
              <a:srgbClr val="2449CC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199663" cy="355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942871" y="9684100"/>
            <a:ext cx="4554972" cy="1205800"/>
            <a:chOff x="0" y="0"/>
            <a:chExt cx="1199663" cy="31757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99663" cy="317577"/>
            </a:xfrm>
            <a:custGeom>
              <a:avLst/>
              <a:gdLst/>
              <a:ahLst/>
              <a:cxnLst/>
              <a:rect r="r" b="b" t="t" l="l"/>
              <a:pathLst>
                <a:path h="317577" w="1199663">
                  <a:moveTo>
                    <a:pt x="86683" y="0"/>
                  </a:moveTo>
                  <a:lnTo>
                    <a:pt x="1112981" y="0"/>
                  </a:lnTo>
                  <a:cubicBezTo>
                    <a:pt x="1160854" y="0"/>
                    <a:pt x="1199663" y="38809"/>
                    <a:pt x="1199663" y="86683"/>
                  </a:cubicBezTo>
                  <a:lnTo>
                    <a:pt x="1199663" y="230894"/>
                  </a:lnTo>
                  <a:cubicBezTo>
                    <a:pt x="1199663" y="253884"/>
                    <a:pt x="1190531" y="275932"/>
                    <a:pt x="1174275" y="292188"/>
                  </a:cubicBezTo>
                  <a:cubicBezTo>
                    <a:pt x="1158018" y="308444"/>
                    <a:pt x="1135970" y="317577"/>
                    <a:pt x="1112981" y="317577"/>
                  </a:cubicBezTo>
                  <a:lnTo>
                    <a:pt x="86683" y="317577"/>
                  </a:lnTo>
                  <a:cubicBezTo>
                    <a:pt x="38809" y="317577"/>
                    <a:pt x="0" y="278768"/>
                    <a:pt x="0" y="230894"/>
                  </a:cubicBezTo>
                  <a:lnTo>
                    <a:pt x="0" y="86683"/>
                  </a:lnTo>
                  <a:cubicBezTo>
                    <a:pt x="0" y="38809"/>
                    <a:pt x="38809" y="0"/>
                    <a:pt x="86683" y="0"/>
                  </a:cubicBezTo>
                  <a:close/>
                </a:path>
              </a:pathLst>
            </a:custGeom>
            <a:solidFill>
              <a:srgbClr val="2449CC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199663" cy="355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7719135" y="2332620"/>
            <a:ext cx="477709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 spc="-12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13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5349398" y="6000121"/>
            <a:ext cx="3600410" cy="675160"/>
            <a:chOff x="0" y="0"/>
            <a:chExt cx="1260075" cy="23629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60075" cy="236293"/>
            </a:xfrm>
            <a:custGeom>
              <a:avLst/>
              <a:gdLst/>
              <a:ahLst/>
              <a:cxnLst/>
              <a:rect r="r" b="b" t="t" l="l"/>
              <a:pathLst>
                <a:path h="236293" w="1260075">
                  <a:moveTo>
                    <a:pt x="43006" y="0"/>
                  </a:moveTo>
                  <a:lnTo>
                    <a:pt x="1217069" y="0"/>
                  </a:lnTo>
                  <a:cubicBezTo>
                    <a:pt x="1228475" y="0"/>
                    <a:pt x="1239414" y="4531"/>
                    <a:pt x="1247479" y="12596"/>
                  </a:cubicBezTo>
                  <a:cubicBezTo>
                    <a:pt x="1255544" y="20661"/>
                    <a:pt x="1260075" y="31600"/>
                    <a:pt x="1260075" y="43006"/>
                  </a:cubicBezTo>
                  <a:lnTo>
                    <a:pt x="1260075" y="193287"/>
                  </a:lnTo>
                  <a:cubicBezTo>
                    <a:pt x="1260075" y="217039"/>
                    <a:pt x="1240821" y="236293"/>
                    <a:pt x="1217069" y="236293"/>
                  </a:cubicBezTo>
                  <a:lnTo>
                    <a:pt x="43006" y="236293"/>
                  </a:lnTo>
                  <a:cubicBezTo>
                    <a:pt x="31600" y="236293"/>
                    <a:pt x="20661" y="231762"/>
                    <a:pt x="12596" y="223697"/>
                  </a:cubicBezTo>
                  <a:cubicBezTo>
                    <a:pt x="4531" y="215632"/>
                    <a:pt x="0" y="204693"/>
                    <a:pt x="0" y="193287"/>
                  </a:cubicBezTo>
                  <a:lnTo>
                    <a:pt x="0" y="43006"/>
                  </a:lnTo>
                  <a:cubicBezTo>
                    <a:pt x="0" y="31600"/>
                    <a:pt x="4531" y="20661"/>
                    <a:pt x="12596" y="12596"/>
                  </a:cubicBezTo>
                  <a:cubicBezTo>
                    <a:pt x="20661" y="4531"/>
                    <a:pt x="31600" y="0"/>
                    <a:pt x="43006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212121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260075" cy="2743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5439624" y="6180029"/>
            <a:ext cx="3419957" cy="277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7"/>
              </a:lnSpc>
            </a:pPr>
            <a:r>
              <a:rPr lang="en-US" b="true" sz="1590">
                <a:solidFill>
                  <a:srgbClr val="21212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AP24110040006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098233" y="6000121"/>
            <a:ext cx="3840369" cy="675160"/>
            <a:chOff x="0" y="0"/>
            <a:chExt cx="1344056" cy="23629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44056" cy="236293"/>
            </a:xfrm>
            <a:custGeom>
              <a:avLst/>
              <a:gdLst/>
              <a:ahLst/>
              <a:cxnLst/>
              <a:rect r="r" b="b" t="t" l="l"/>
              <a:pathLst>
                <a:path h="236293" w="1344056">
                  <a:moveTo>
                    <a:pt x="40319" y="0"/>
                  </a:moveTo>
                  <a:lnTo>
                    <a:pt x="1303738" y="0"/>
                  </a:lnTo>
                  <a:cubicBezTo>
                    <a:pt x="1314431" y="0"/>
                    <a:pt x="1324686" y="4248"/>
                    <a:pt x="1332247" y="11809"/>
                  </a:cubicBezTo>
                  <a:cubicBezTo>
                    <a:pt x="1339808" y="19370"/>
                    <a:pt x="1344056" y="29625"/>
                    <a:pt x="1344056" y="40319"/>
                  </a:cubicBezTo>
                  <a:lnTo>
                    <a:pt x="1344056" y="195974"/>
                  </a:lnTo>
                  <a:cubicBezTo>
                    <a:pt x="1344056" y="218242"/>
                    <a:pt x="1326005" y="236293"/>
                    <a:pt x="1303738" y="236293"/>
                  </a:cubicBezTo>
                  <a:lnTo>
                    <a:pt x="40319" y="236293"/>
                  </a:lnTo>
                  <a:cubicBezTo>
                    <a:pt x="29625" y="236293"/>
                    <a:pt x="19370" y="232045"/>
                    <a:pt x="11809" y="224484"/>
                  </a:cubicBezTo>
                  <a:cubicBezTo>
                    <a:pt x="4248" y="216923"/>
                    <a:pt x="0" y="206668"/>
                    <a:pt x="0" y="195974"/>
                  </a:cubicBezTo>
                  <a:lnTo>
                    <a:pt x="0" y="40319"/>
                  </a:lnTo>
                  <a:cubicBezTo>
                    <a:pt x="0" y="29625"/>
                    <a:pt x="4248" y="19370"/>
                    <a:pt x="11809" y="11809"/>
                  </a:cubicBezTo>
                  <a:cubicBezTo>
                    <a:pt x="19370" y="4248"/>
                    <a:pt x="29625" y="0"/>
                    <a:pt x="40319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212121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344056" cy="2743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9214378" y="6180029"/>
            <a:ext cx="3608080" cy="277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7"/>
              </a:lnSpc>
            </a:pPr>
            <a:r>
              <a:rPr lang="en-US" b="true" sz="1590">
                <a:solidFill>
                  <a:srgbClr val="21212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AP24110040009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DAHC7YL8MR8</dc:identifier>
  <dcterms:modified xsi:type="dcterms:W3CDTF">2011-08-01T06:04:30Z</dcterms:modified>
  <cp:revision>1</cp:revision>
  <dc:title>low frequency transfer function</dc:title>
</cp:coreProperties>
</file>